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74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6A305-D363-D96B-1EA2-ACB03FF5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BCE627-15AF-07E7-B86E-64B656CCE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C8DCD6-247C-0CCE-16A1-76ABB54F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97E62-1C01-6E85-9971-611FC385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D6D181-F0DD-A1CD-4768-877D5895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8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A2B14-7B9C-406A-7ED4-F6E07AFC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D3A89B-3910-A14A-355D-A6BA84D96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01DE4F-B5B9-8C27-6E9B-D13C4531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EC3CB6-72D8-3034-2817-10E344C7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ACFDB-22DC-EEAF-BF4B-0ACEEC68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70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DFAD9-0289-9AC1-88C9-6866BCF0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385810-A7C1-7E9F-20EC-FC286D6C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9AAB6F-FDA5-5546-3999-E87E2CC4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0486F-E49B-DB54-5667-C779C7E7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315CDC-2E5C-BDAC-FEF7-AB764291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97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EBDFF-CADB-1E20-E765-ED30E872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BF2ED9-FD1A-C512-C938-35618DC91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E64D00-8FB1-10B1-60C1-C45BCF792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CD479A-8618-BBA2-83EB-4DD00C6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EB5D88-7AE5-E62A-F275-0BF5E820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F64562-86BB-AAA3-73F3-A834B741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27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A3F3D-D1CC-FCA0-9253-36125AC9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C4C4B5-039A-D48C-AA94-226A1757F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800459-8108-8437-47A4-79ACBB048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73412B-6BF2-6391-D8C2-3775AE986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8AF4F2-9019-3921-90C3-2E1086DD5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83E3E7-3B70-4105-5660-C1C199BD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703448-C461-9F26-D19B-4BD1C994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09EEF3-6A5A-5968-4269-85D97D06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99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E63CA-85C5-D8E2-59E2-A6FFDC22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613BD7-A10E-7667-AA48-B808A18D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A75569-C3CE-2F1D-42E5-84DA13AB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D02148-E4F8-6B62-FB16-06FA1949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30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62ACF4-BF34-B04E-18AF-4A611CC2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23FCC4-4B1B-C532-C9E3-B6A18924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87604-5D30-AEF4-E8FD-80D5B544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03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D6264-7433-AAFC-CC65-4B4174CF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0CB0B3-BEE3-01EC-1C6B-9D5C1F87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DB43D3-B300-880F-4342-4062BE842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C5F769-0896-A4C3-CC07-26C251BD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47781F-5812-8B32-59F1-DA5D8F2B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A00347-3147-4C80-C25B-57B277C1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71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D6E1F-68D2-0114-0612-505D04F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163DD1-24A4-747C-C8A8-988251DE7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8EEF03-E1FB-5F25-D57B-2CF73FFE9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A54C47-C0E1-DBA4-C4B5-6FB4F831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BFCE1A-0A17-C1E7-FC53-0CFD4EC1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818D38-D69A-8EED-260F-59A761D7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64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0219F-79D3-69E2-5DF3-7131575F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D45E79-3DEC-0EF8-B8B1-A64DE9217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DF303-9295-1CF1-8A2D-E4BDCB7D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32D13-2FCF-80A5-8A61-E2629A04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6AB361-840F-FA0D-9857-6822A06B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890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6F55CD-CDE7-14F8-A56A-E3A46F3F9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D5787F-8B48-B994-77BE-60DDE8467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02C3A-621D-55DE-589B-D30A3DFA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E7421-013B-A5D0-1632-F4C82101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B105E-0E1D-ED83-A9D7-DD672BA6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54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718182-C4E5-808D-B78C-D6E1710C3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4C669B-C6B8-3EA7-4D99-2DFBACFD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4A728-3DBB-D1D7-932B-10A4B2D9B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E0931-888D-41F0-BADF-8424F2C4E7D1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FEC14-3840-362F-37B1-15F9D114D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78F3E8-F53E-A917-0489-1813B2700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404B6-E5EB-4380-B7B9-44F9DE8FA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75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E1724-4878-9F10-4F2F-A4EF5011E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FPMT-PET</a:t>
            </a:r>
            <a:r>
              <a:rPr lang="zh-CN" altLang="en-US" dirty="0"/>
              <a:t>系统电子学进展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3E3288-AF45-FBA7-3EE5-8FC584E81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3838"/>
            <a:ext cx="9144000" cy="2017712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宁哲</a:t>
            </a:r>
            <a:endParaRPr lang="en-US" altLang="zh-CN" dirty="0"/>
          </a:p>
          <a:p>
            <a:r>
              <a:rPr lang="zh-CN" altLang="en-US" dirty="0"/>
              <a:t>代表系统电子学组</a:t>
            </a:r>
            <a:endParaRPr lang="en-US" altLang="zh-CN" dirty="0"/>
          </a:p>
          <a:p>
            <a:r>
              <a:rPr lang="en-US" altLang="zh-CN" dirty="0"/>
              <a:t>2026/2/9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07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269AF-4C90-E018-B687-4ABEECB4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Verilog</a:t>
            </a:r>
            <a:r>
              <a:rPr lang="zh-CN" altLang="en-US" dirty="0"/>
              <a:t>实现的</a:t>
            </a:r>
            <a:r>
              <a:rPr lang="en-US" altLang="zh-CN" dirty="0"/>
              <a:t>XVC</a:t>
            </a:r>
            <a:r>
              <a:rPr lang="zh-CN" altLang="en-US" dirty="0"/>
              <a:t>服务器开发动机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A9CFFB-C24F-F5AC-4E83-99AD3AB68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考虑到构造大规模读出系统时，如</a:t>
            </a:r>
            <a:r>
              <a:rPr lang="en-US" altLang="zh-CN" dirty="0"/>
              <a:t>FPMT</a:t>
            </a:r>
            <a:r>
              <a:rPr lang="zh-CN" altLang="en-US" dirty="0"/>
              <a:t>及电子学板卡之间密排，空间极其有限，难以引出</a:t>
            </a:r>
            <a:r>
              <a:rPr lang="en-US" altLang="zh-CN" dirty="0"/>
              <a:t>JTAG</a:t>
            </a:r>
            <a:r>
              <a:rPr lang="zh-CN" altLang="en-US" dirty="0"/>
              <a:t>线来调试；</a:t>
            </a:r>
            <a:endParaRPr lang="en-US" altLang="zh-CN" dirty="0"/>
          </a:p>
          <a:p>
            <a:r>
              <a:rPr lang="zh-CN" altLang="en-US" dirty="0"/>
              <a:t>现有方案（</a:t>
            </a:r>
            <a:r>
              <a:rPr lang="en-US" altLang="zh-CN" dirty="0"/>
              <a:t>1</a:t>
            </a:r>
            <a:r>
              <a:rPr lang="zh-CN" altLang="en-US" dirty="0"/>
              <a:t>）：类似江门大</a:t>
            </a:r>
            <a:r>
              <a:rPr lang="en-US" altLang="zh-CN" dirty="0"/>
              <a:t>PMT</a:t>
            </a:r>
            <a:r>
              <a:rPr lang="zh-CN" altLang="en-US" dirty="0"/>
              <a:t>远程调试方案，多一个</a:t>
            </a:r>
            <a:r>
              <a:rPr lang="en-US" altLang="zh-CN" dirty="0"/>
              <a:t>Spartan-6</a:t>
            </a:r>
            <a:r>
              <a:rPr lang="zh-CN" altLang="en-US" dirty="0"/>
              <a:t>芯片，在上面运行</a:t>
            </a:r>
            <a:r>
              <a:rPr lang="en-US" altLang="zh-CN" dirty="0"/>
              <a:t>XVC server</a:t>
            </a:r>
            <a:r>
              <a:rPr lang="zh-CN" altLang="en-US" dirty="0"/>
              <a:t>（意大利人负责开发）：缺点是配合</a:t>
            </a:r>
            <a:r>
              <a:rPr lang="en-US" altLang="zh-CN" dirty="0" err="1"/>
              <a:t>IPbus</a:t>
            </a:r>
            <a:r>
              <a:rPr lang="zh-CN" altLang="en-US" dirty="0"/>
              <a:t>实现，极其复杂，且只能用于</a:t>
            </a:r>
            <a:r>
              <a:rPr lang="en-US" altLang="zh-CN" dirty="0"/>
              <a:t>Linux</a:t>
            </a:r>
            <a:r>
              <a:rPr lang="zh-CN" altLang="en-US" dirty="0"/>
              <a:t>，且会增加成本和功耗；优点是可直接通过</a:t>
            </a:r>
            <a:r>
              <a:rPr lang="en-US" altLang="zh-CN" dirty="0"/>
              <a:t>XVC</a:t>
            </a:r>
            <a:r>
              <a:rPr lang="zh-CN" altLang="en-US" dirty="0"/>
              <a:t>在线刷新</a:t>
            </a:r>
            <a:r>
              <a:rPr lang="en-US" altLang="zh-CN" dirty="0"/>
              <a:t>bit</a:t>
            </a:r>
            <a:r>
              <a:rPr lang="zh-CN" altLang="en-US" dirty="0"/>
              <a:t>文件；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5E3D2A-A845-34AC-D13B-D5C5957B95B7}"/>
              </a:ext>
            </a:extLst>
          </p:cNvPr>
          <p:cNvSpPr/>
          <p:nvPr/>
        </p:nvSpPr>
        <p:spPr>
          <a:xfrm>
            <a:off x="1341119" y="4660160"/>
            <a:ext cx="1945178" cy="1684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Kintex-7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56FA1-3A1A-F910-5D4B-BC203E844240}"/>
              </a:ext>
            </a:extLst>
          </p:cNvPr>
          <p:cNvSpPr/>
          <p:nvPr/>
        </p:nvSpPr>
        <p:spPr>
          <a:xfrm>
            <a:off x="5198224" y="4660159"/>
            <a:ext cx="1945178" cy="1684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Spartan-6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F75779-BB0E-5D4D-2B75-AC9EDFDB5D8D}"/>
              </a:ext>
            </a:extLst>
          </p:cNvPr>
          <p:cNvSpPr/>
          <p:nvPr/>
        </p:nvSpPr>
        <p:spPr>
          <a:xfrm>
            <a:off x="8988827" y="4615825"/>
            <a:ext cx="1945178" cy="1684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网口</a:t>
            </a:r>
            <a:endParaRPr lang="en-US" altLang="zh-CN" dirty="0"/>
          </a:p>
        </p:txBody>
      </p:sp>
      <p:sp>
        <p:nvSpPr>
          <p:cNvPr id="7" name="箭头: 左右 6">
            <a:extLst>
              <a:ext uri="{FF2B5EF4-FFF2-40B4-BE49-F238E27FC236}">
                <a16:creationId xmlns:a16="http://schemas.microsoft.com/office/drawing/2014/main" id="{2F0428E0-64C8-88CD-5E16-A5641E0DAF1B}"/>
              </a:ext>
            </a:extLst>
          </p:cNvPr>
          <p:cNvSpPr/>
          <p:nvPr/>
        </p:nvSpPr>
        <p:spPr>
          <a:xfrm>
            <a:off x="3338944" y="5250362"/>
            <a:ext cx="1839884" cy="4156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左右 7">
            <a:extLst>
              <a:ext uri="{FF2B5EF4-FFF2-40B4-BE49-F238E27FC236}">
                <a16:creationId xmlns:a16="http://schemas.microsoft.com/office/drawing/2014/main" id="{301E29D1-AFDB-0BB5-62C9-6E386F1989AB}"/>
              </a:ext>
            </a:extLst>
          </p:cNvPr>
          <p:cNvSpPr/>
          <p:nvPr/>
        </p:nvSpPr>
        <p:spPr>
          <a:xfrm>
            <a:off x="7162798" y="5244820"/>
            <a:ext cx="1839884" cy="4156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2C54E2-5F6E-0155-1F1E-0B8B92271B5F}"/>
              </a:ext>
            </a:extLst>
          </p:cNvPr>
          <p:cNvSpPr txBox="1"/>
          <p:nvPr/>
        </p:nvSpPr>
        <p:spPr>
          <a:xfrm>
            <a:off x="1717963" y="6488668"/>
            <a:ext cx="142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主芯片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A7835E-70C7-2DA5-8226-B8C0441C316C}"/>
              </a:ext>
            </a:extLst>
          </p:cNvPr>
          <p:cNvSpPr txBox="1"/>
          <p:nvPr/>
        </p:nvSpPr>
        <p:spPr>
          <a:xfrm>
            <a:off x="5198224" y="6416673"/>
            <a:ext cx="2299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用于远程调试的桥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2D6CB5-F7F6-6EFB-F35B-85692833DE85}"/>
              </a:ext>
            </a:extLst>
          </p:cNvPr>
          <p:cNvSpPr txBox="1"/>
          <p:nvPr/>
        </p:nvSpPr>
        <p:spPr>
          <a:xfrm>
            <a:off x="3746960" y="4813562"/>
            <a:ext cx="119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JTAG</a:t>
            </a:r>
            <a:r>
              <a:rPr lang="zh-CN" altLang="en-US" dirty="0"/>
              <a:t>线</a:t>
            </a:r>
          </a:p>
        </p:txBody>
      </p:sp>
    </p:spTree>
    <p:extLst>
      <p:ext uri="{BB962C8B-B14F-4D97-AF65-F5344CB8AC3E}">
        <p14:creationId xmlns:p14="http://schemas.microsoft.com/office/powerpoint/2010/main" val="163690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0FBF102-D0B9-C959-04CF-924D0F552B07}"/>
              </a:ext>
            </a:extLst>
          </p:cNvPr>
          <p:cNvSpPr/>
          <p:nvPr/>
        </p:nvSpPr>
        <p:spPr>
          <a:xfrm>
            <a:off x="1956263" y="3749675"/>
            <a:ext cx="4982094" cy="27432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dirty="0"/>
              <a:t>ZYNQ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F0C8629-5EF7-636E-2A45-0EE9C9B7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Verilog</a:t>
            </a:r>
            <a:r>
              <a:rPr lang="zh-CN" altLang="en-US" dirty="0"/>
              <a:t>实现的</a:t>
            </a:r>
            <a:r>
              <a:rPr lang="en-US" altLang="zh-CN" dirty="0"/>
              <a:t>XVC</a:t>
            </a:r>
            <a:r>
              <a:rPr lang="zh-CN" altLang="en-US" dirty="0"/>
              <a:t>服务器开发动机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ADE824-C09A-2C9D-502C-74BC968E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3990"/>
          </a:xfrm>
        </p:spPr>
        <p:txBody>
          <a:bodyPr/>
          <a:lstStyle/>
          <a:p>
            <a:r>
              <a:rPr lang="zh-CN" altLang="en-US" dirty="0"/>
              <a:t>现有方案（</a:t>
            </a:r>
            <a:r>
              <a:rPr lang="en-US" altLang="zh-CN" dirty="0"/>
              <a:t>2</a:t>
            </a:r>
            <a:r>
              <a:rPr lang="zh-CN" altLang="en-US" dirty="0"/>
              <a:t>）：类似江门触发电子学的方案，采用</a:t>
            </a:r>
            <a:r>
              <a:rPr lang="en-US" altLang="zh-CN" dirty="0"/>
              <a:t>ZYNQ FPGA</a:t>
            </a:r>
            <a:r>
              <a:rPr lang="zh-CN" altLang="en-US" dirty="0"/>
              <a:t>，</a:t>
            </a:r>
            <a:r>
              <a:rPr lang="en-US" altLang="zh-CN" dirty="0"/>
              <a:t>PS</a:t>
            </a:r>
            <a:r>
              <a:rPr lang="zh-CN" altLang="en-US" dirty="0"/>
              <a:t>部分（</a:t>
            </a:r>
            <a:r>
              <a:rPr lang="en-US" altLang="zh-CN" dirty="0"/>
              <a:t>arm CPU</a:t>
            </a:r>
            <a:r>
              <a:rPr lang="zh-CN" altLang="en-US" dirty="0"/>
              <a:t>）作桥，优点是内部的</a:t>
            </a:r>
            <a:r>
              <a:rPr lang="en-US" altLang="zh-CN" dirty="0"/>
              <a:t>arm</a:t>
            </a:r>
            <a:r>
              <a:rPr lang="zh-CN" altLang="en-US" dirty="0"/>
              <a:t>直接运行官方提供的基于</a:t>
            </a:r>
            <a:r>
              <a:rPr lang="en-US" altLang="zh-CN" dirty="0"/>
              <a:t>C</a:t>
            </a:r>
            <a:r>
              <a:rPr lang="zh-CN" altLang="en-US" dirty="0"/>
              <a:t>语言实现的</a:t>
            </a:r>
            <a:r>
              <a:rPr lang="en-US" altLang="zh-CN" dirty="0" err="1"/>
              <a:t>xvc</a:t>
            </a:r>
            <a:r>
              <a:rPr lang="en-US" altLang="zh-CN" dirty="0"/>
              <a:t> server</a:t>
            </a:r>
            <a:r>
              <a:rPr lang="zh-CN" altLang="en-US" dirty="0"/>
              <a:t>，且可以在线刷新</a:t>
            </a:r>
            <a:r>
              <a:rPr lang="en-US" altLang="zh-CN" dirty="0"/>
              <a:t>bit</a:t>
            </a:r>
            <a:r>
              <a:rPr lang="zh-CN" altLang="en-US" dirty="0"/>
              <a:t>文件；缺点是增加成本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9288C6-307D-958D-43C9-A5F1EA3E5969}"/>
              </a:ext>
            </a:extLst>
          </p:cNvPr>
          <p:cNvSpPr/>
          <p:nvPr/>
        </p:nvSpPr>
        <p:spPr>
          <a:xfrm>
            <a:off x="2432859" y="4198562"/>
            <a:ext cx="1673629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</a:t>
            </a:r>
          </a:p>
          <a:p>
            <a:pPr algn="ctr"/>
            <a:r>
              <a:rPr lang="en-US" altLang="zh-CN" dirty="0"/>
              <a:t>FPGA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E9889B-B22B-F24B-88B7-D9C808859032}"/>
              </a:ext>
            </a:extLst>
          </p:cNvPr>
          <p:cNvSpPr/>
          <p:nvPr/>
        </p:nvSpPr>
        <p:spPr>
          <a:xfrm>
            <a:off x="4860176" y="4198562"/>
            <a:ext cx="1673629" cy="1524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PS</a:t>
            </a:r>
          </a:p>
          <a:p>
            <a:pPr algn="ctr"/>
            <a:r>
              <a:rPr lang="en-US" altLang="zh-CN" dirty="0"/>
              <a:t>arm</a:t>
            </a:r>
            <a:endParaRPr lang="zh-CN" altLang="en-US" dirty="0"/>
          </a:p>
        </p:txBody>
      </p:sp>
      <p:sp>
        <p:nvSpPr>
          <p:cNvPr id="6" name="箭头: 左右 5">
            <a:extLst>
              <a:ext uri="{FF2B5EF4-FFF2-40B4-BE49-F238E27FC236}">
                <a16:creationId xmlns:a16="http://schemas.microsoft.com/office/drawing/2014/main" id="{57B84B69-DAB2-2E4C-EAFB-F029B6B9C4C2}"/>
              </a:ext>
            </a:extLst>
          </p:cNvPr>
          <p:cNvSpPr/>
          <p:nvPr/>
        </p:nvSpPr>
        <p:spPr>
          <a:xfrm>
            <a:off x="4106488" y="4785995"/>
            <a:ext cx="753688" cy="31588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23AC0B-D500-41C9-0109-5FD12CB3C600}"/>
              </a:ext>
            </a:extLst>
          </p:cNvPr>
          <p:cNvSpPr/>
          <p:nvPr/>
        </p:nvSpPr>
        <p:spPr>
          <a:xfrm>
            <a:off x="7935884" y="4198562"/>
            <a:ext cx="1673629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网口</a:t>
            </a:r>
          </a:p>
        </p:txBody>
      </p:sp>
      <p:sp>
        <p:nvSpPr>
          <p:cNvPr id="9" name="箭头: 左右 8">
            <a:extLst>
              <a:ext uri="{FF2B5EF4-FFF2-40B4-BE49-F238E27FC236}">
                <a16:creationId xmlns:a16="http://schemas.microsoft.com/office/drawing/2014/main" id="{709621A3-BD49-C188-03FD-1516CD005E56}"/>
              </a:ext>
            </a:extLst>
          </p:cNvPr>
          <p:cNvSpPr/>
          <p:nvPr/>
        </p:nvSpPr>
        <p:spPr>
          <a:xfrm>
            <a:off x="6578138" y="4820632"/>
            <a:ext cx="1357746" cy="31588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9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178A3-BD17-00A4-C445-2CB7A61F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628A3-D7C0-F79B-9F98-2E11054C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587"/>
            <a:ext cx="10515600" cy="194064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由于</a:t>
            </a:r>
            <a:r>
              <a:rPr lang="en-US" altLang="zh-CN" dirty="0"/>
              <a:t>Xilinx</a:t>
            </a:r>
            <a:r>
              <a:rPr lang="zh-CN" altLang="en-US" dirty="0"/>
              <a:t>官方推出了内部</a:t>
            </a:r>
            <a:r>
              <a:rPr lang="en-US" altLang="zh-CN" dirty="0"/>
              <a:t>JTAG</a:t>
            </a:r>
            <a:r>
              <a:rPr lang="zh-CN" altLang="en-US" dirty="0"/>
              <a:t>核，可以将</a:t>
            </a:r>
            <a:r>
              <a:rPr lang="en-US" altLang="zh-CN" dirty="0"/>
              <a:t>FPGA</a:t>
            </a:r>
            <a:r>
              <a:rPr lang="zh-CN" altLang="en-US" dirty="0"/>
              <a:t>自身作为桥，自己调试自己；</a:t>
            </a:r>
            <a:endParaRPr lang="en-US" altLang="zh-CN" dirty="0"/>
          </a:p>
          <a:p>
            <a:r>
              <a:rPr lang="zh-CN" altLang="en-US" dirty="0"/>
              <a:t>优点：可直接在现有板卡实现，不增加任何硬件；直接和现有的</a:t>
            </a:r>
            <a:r>
              <a:rPr lang="en-US" altLang="zh-CN" dirty="0"/>
              <a:t>TCP IP</a:t>
            </a:r>
            <a:r>
              <a:rPr lang="zh-CN" altLang="en-US" dirty="0"/>
              <a:t>核集成，不需要</a:t>
            </a:r>
            <a:r>
              <a:rPr lang="en-US" altLang="zh-CN" dirty="0"/>
              <a:t>IPBUS</a:t>
            </a:r>
            <a:r>
              <a:rPr lang="zh-CN" altLang="en-US" dirty="0"/>
              <a:t>，运行平台与操作系统无关；</a:t>
            </a:r>
            <a:endParaRPr lang="en-US" altLang="zh-CN" dirty="0"/>
          </a:p>
          <a:p>
            <a:r>
              <a:rPr lang="zh-CN" altLang="en-US" dirty="0"/>
              <a:t>缺点：不能通过</a:t>
            </a:r>
            <a:r>
              <a:rPr lang="en-US" altLang="zh-CN" dirty="0"/>
              <a:t>XVC</a:t>
            </a:r>
            <a:r>
              <a:rPr lang="zh-CN" altLang="en-US" dirty="0"/>
              <a:t>在线刷新</a:t>
            </a:r>
            <a:r>
              <a:rPr lang="en-US" altLang="zh-CN" dirty="0"/>
              <a:t>bit</a:t>
            </a:r>
            <a:r>
              <a:rPr lang="zh-CN" altLang="en-US" dirty="0"/>
              <a:t>文件，得通过</a:t>
            </a:r>
            <a:r>
              <a:rPr lang="en-US" altLang="zh-CN" dirty="0"/>
              <a:t>multiboot</a:t>
            </a:r>
            <a:r>
              <a:rPr lang="zh-CN" altLang="en-US" dirty="0"/>
              <a:t>更新固件；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152F7E-C50C-E84A-52CB-6F0F90D970D1}"/>
              </a:ext>
            </a:extLst>
          </p:cNvPr>
          <p:cNvSpPr/>
          <p:nvPr/>
        </p:nvSpPr>
        <p:spPr>
          <a:xfrm>
            <a:off x="266005" y="4252668"/>
            <a:ext cx="3059085" cy="1684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dirty="0"/>
              <a:t>Kintex-7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CF7F7B-6179-EB8E-887C-7B392A3F04E4}"/>
              </a:ext>
            </a:extLst>
          </p:cNvPr>
          <p:cNvSpPr/>
          <p:nvPr/>
        </p:nvSpPr>
        <p:spPr>
          <a:xfrm>
            <a:off x="5081847" y="4219926"/>
            <a:ext cx="1945178" cy="1684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网口</a:t>
            </a:r>
            <a:endParaRPr lang="en-US" altLang="zh-CN" dirty="0"/>
          </a:p>
        </p:txBody>
      </p:sp>
      <p:sp>
        <p:nvSpPr>
          <p:cNvPr id="8" name="箭头: 左右 7">
            <a:extLst>
              <a:ext uri="{FF2B5EF4-FFF2-40B4-BE49-F238E27FC236}">
                <a16:creationId xmlns:a16="http://schemas.microsoft.com/office/drawing/2014/main" id="{BECF90E3-8674-6021-F814-7494F4841F5F}"/>
              </a:ext>
            </a:extLst>
          </p:cNvPr>
          <p:cNvSpPr/>
          <p:nvPr/>
        </p:nvSpPr>
        <p:spPr>
          <a:xfrm>
            <a:off x="3325090" y="4837328"/>
            <a:ext cx="1756757" cy="4156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937972-1254-B733-A55E-A81D699B7051}"/>
              </a:ext>
            </a:extLst>
          </p:cNvPr>
          <p:cNvSpPr txBox="1"/>
          <p:nvPr/>
        </p:nvSpPr>
        <p:spPr>
          <a:xfrm>
            <a:off x="642850" y="6081176"/>
            <a:ext cx="142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主芯片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1C655B-8EC6-8FF7-58B3-E2626D10722C}"/>
              </a:ext>
            </a:extLst>
          </p:cNvPr>
          <p:cNvSpPr txBox="1"/>
          <p:nvPr/>
        </p:nvSpPr>
        <p:spPr>
          <a:xfrm>
            <a:off x="5081847" y="6081176"/>
            <a:ext cx="2299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用于远程调试的桥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BE4A68-2543-C164-C655-3F53F3600CE6}"/>
              </a:ext>
            </a:extLst>
          </p:cNvPr>
          <p:cNvSpPr/>
          <p:nvPr/>
        </p:nvSpPr>
        <p:spPr>
          <a:xfrm>
            <a:off x="2067097" y="4685439"/>
            <a:ext cx="964277" cy="7315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XVC server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0EA609-B303-77AC-CB2A-795F8163F268}"/>
              </a:ext>
            </a:extLst>
          </p:cNvPr>
          <p:cNvSpPr/>
          <p:nvPr/>
        </p:nvSpPr>
        <p:spPr>
          <a:xfrm>
            <a:off x="737060" y="4679897"/>
            <a:ext cx="964277" cy="7315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内部</a:t>
            </a:r>
            <a:r>
              <a:rPr lang="en-US" altLang="zh-CN" dirty="0"/>
              <a:t>JTAG</a:t>
            </a:r>
            <a:endParaRPr lang="zh-CN" altLang="en-US" dirty="0"/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9FE0518F-7C37-68C4-F483-B6D03DD3E95E}"/>
              </a:ext>
            </a:extLst>
          </p:cNvPr>
          <p:cNvSpPr/>
          <p:nvPr/>
        </p:nvSpPr>
        <p:spPr>
          <a:xfrm>
            <a:off x="1701337" y="4968072"/>
            <a:ext cx="365760" cy="188422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电脑屏幕的照片&#10;&#10;AI 生成的内容可能不正确。">
            <a:extLst>
              <a:ext uri="{FF2B5EF4-FFF2-40B4-BE49-F238E27FC236}">
                <a16:creationId xmlns:a16="http://schemas.microsoft.com/office/drawing/2014/main" id="{E969A8AE-B1BE-386F-63F7-64BEABFA9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79" b="6827"/>
          <a:stretch>
            <a:fillRect/>
          </a:stretch>
        </p:blipFill>
        <p:spPr>
          <a:xfrm>
            <a:off x="7157835" y="3951848"/>
            <a:ext cx="4919866" cy="24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5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46348-BB79-2009-A13F-61BF4085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下一步计划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7849C-C861-F613-E85A-7FBAFD83C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由于当前</a:t>
            </a:r>
            <a:r>
              <a:rPr lang="en-US" altLang="zh-CN" dirty="0"/>
              <a:t>multiboot</a:t>
            </a:r>
            <a:r>
              <a:rPr lang="zh-CN" altLang="en-US" dirty="0"/>
              <a:t>更新模式采用</a:t>
            </a:r>
            <a:r>
              <a:rPr lang="en-US" altLang="zh-CN" dirty="0"/>
              <a:t>UDP</a:t>
            </a:r>
            <a:r>
              <a:rPr lang="zh-CN" altLang="en-US" dirty="0"/>
              <a:t>，速度较慢，计划尝试改为采用</a:t>
            </a:r>
            <a:r>
              <a:rPr lang="en-US" altLang="zh-CN" dirty="0"/>
              <a:t>TCP</a:t>
            </a:r>
            <a:r>
              <a:rPr lang="zh-CN" altLang="en-US" dirty="0"/>
              <a:t>传输，看看能否提高更新速度；</a:t>
            </a:r>
          </a:p>
        </p:txBody>
      </p:sp>
    </p:spTree>
    <p:extLst>
      <p:ext uri="{BB962C8B-B14F-4D97-AF65-F5344CB8AC3E}">
        <p14:creationId xmlns:p14="http://schemas.microsoft.com/office/powerpoint/2010/main" val="318058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AA093-51FA-714B-E24D-97416741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E0ED3-6341-808C-210C-A9D5BCD8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95151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308</Words>
  <Application>Microsoft Office PowerPoint</Application>
  <PresentationFormat>宽屏</PresentationFormat>
  <Paragraphs>35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FPMT-PET系统电子学进展</vt:lpstr>
      <vt:lpstr>基于Verilog实现的XVC服务器开发动机</vt:lpstr>
      <vt:lpstr>基于Verilog实现的XVC服务器开发动机</vt:lpstr>
      <vt:lpstr>新方案</vt:lpstr>
      <vt:lpstr>下一步计划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abc4329803@126.com</dc:creator>
  <cp:lastModifiedBy>abc4329803@126.com</cp:lastModifiedBy>
  <cp:revision>54</cp:revision>
  <dcterms:created xsi:type="dcterms:W3CDTF">2026-02-06T04:00:30Z</dcterms:created>
  <dcterms:modified xsi:type="dcterms:W3CDTF">2026-02-07T03:22:41Z</dcterms:modified>
</cp:coreProperties>
</file>