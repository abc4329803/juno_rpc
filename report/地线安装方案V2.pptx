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00" r:id="rId5"/>
    <p:sldId id="308" r:id="rId6"/>
    <p:sldId id="303" r:id="rId7"/>
    <p:sldId id="295" r:id="rId8"/>
    <p:sldId id="259" r:id="rId9"/>
    <p:sldId id="293" r:id="rId10"/>
    <p:sldId id="292" r:id="rId11"/>
    <p:sldId id="309" r:id="rId12"/>
    <p:sldId id="307" r:id="rId13"/>
    <p:sldId id="302" r:id="rId14"/>
    <p:sldId id="306" r:id="rId15"/>
    <p:sldId id="29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FED60E-79AD-4819-BCE0-2B7E74196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8F9993-E4C3-4C94-A03F-ACFD2A481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69ADA0-8903-46E3-A139-BB6C57009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66C06D-1976-4592-BD66-18900097D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4FE10C-59F2-4717-BC49-7BCCCE678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74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9CBBA-DD02-4865-9351-2C3B71559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BD149F-267A-49BD-9DE5-F27C353FC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B464E4-0761-406C-85B9-E043CF128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887556-6E26-4CF6-A9A5-0DA53DEB3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6C21D2-EC91-48BE-B7DD-120CED8A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25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7189CB-220C-4163-A36D-B8CFCCDB2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C18854-C641-4A24-9D40-DD77E8B45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20D255-B48C-443A-8506-43EE266EC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F4791C-F9DB-4401-94F2-A1275FF6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E3C2A1-02A0-4EAF-9A16-BF5E04D1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98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0FC1F-0F84-4BAD-BADC-95274EA4A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511C58-C72A-4BA8-BC43-312E3DF10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1484CE-E643-42BE-8437-C2A19DDB6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EF014C-4E01-406D-A8BC-47D3C311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5C7F10-52BF-4E9D-8DA6-E527CC4B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98C1C3-9B7B-410B-86E6-AE9AE813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07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4781D8-3EA4-485E-AC0F-F22611A9A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28820B-0965-4A93-ADC4-B16802BA4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D2145C-057C-4296-BF83-7142A396E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E9A819C-03B0-47FA-A469-19B77CCE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BB6CC6-4FF4-422F-8DCA-1C130D672A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AD7057-F79A-4ACB-9527-8F6DDD62E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767731-49B7-4A24-8B9F-C54AC6058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D603108-FB37-47AA-949A-6A42DA4B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55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F3EB1-4008-492A-B2C7-1C809E5D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D2853F-C5D0-4A53-997F-F32A90B70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44BB6B-47A8-4DCB-A230-003380ED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77F9AC-D135-42A5-ADAD-C7F3E65D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85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3CE3B2-CBAC-4C30-A25C-884CBC0D5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0C09E3-E77E-4EFF-AED9-39E215924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F57875-39CA-4300-AF56-56E2367E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0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62654-6A8A-4A65-87B2-DE300E39B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D27242-383F-4A45-9241-BF241C903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690B28-316E-411D-BDFE-06E384F1D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2291B2-219F-4C14-8C4C-5BC782E22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8C60C6-FA7F-458F-A1CC-A1D386A20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7ADD4F-B76D-4718-A74D-A39FAF396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11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F3650-45B4-48B2-9837-D14AE54F1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712329-38F9-47BF-93C4-F60544BE0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8E46D6-33FD-4A6C-A3F6-74C0E1CF2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51BEFD-5BE5-45C0-90BF-9D21C802A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6B3796-DD5E-4938-8F51-9414CFF74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83FE76-05EE-4F10-BFCA-E2DB2C9F2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4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37C1F-CA78-433C-B759-8DD37BA7D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78BFBC-598A-4923-9D21-BACD95E9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C7806D-F367-4432-8F70-02DFBD8A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60A7B9-2FDD-4DD0-B9F6-089733CF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4A00C2-49BF-4516-80A0-501E220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3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0051980-42F0-4101-B6A1-7A0AD10C54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AD3BEF-52E1-4928-B362-B6C8D0806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3397E1-698B-469C-A4BE-EE37096B8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513845-D180-457E-9FF6-B77E3DD18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89E200-62DB-442B-9E48-AE4BA3305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09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7A0563-2DB9-4CB7-A870-29E2E8A7E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163DA6-5C58-48EF-929E-AB02BF3DD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86A874-CAEF-4EF4-B87F-16E1C3C586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7D8951-8F79-4E24-A8C7-A70CA69C7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07DD64-25BD-4DCD-98CC-B4F26594C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2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1.xlsx"/><Relationship Id="rId3" Type="http://schemas.openxmlformats.org/officeDocument/2006/relationships/image" Target="../media/image7.png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Worksheet.xlsx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70A36-8124-44DD-AB21-761E3EBA2C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地线安装方案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C3B139-5016-436C-974F-F61C58AB4C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宁哲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895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E74CA-D4EE-4F6A-898A-E5D85CA84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CDEB0F-9530-4622-AF85-3EAC4A582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地线设计方案；</a:t>
            </a:r>
            <a:endParaRPr lang="en-US" altLang="zh-CN" dirty="0"/>
          </a:p>
          <a:p>
            <a:r>
              <a:rPr lang="en-US" dirty="0"/>
              <a:t>2. </a:t>
            </a:r>
            <a:r>
              <a:rPr lang="zh-CN" altLang="en-US" dirty="0"/>
              <a:t>地线施工方案；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预算；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6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AF0BE-A5B9-4B01-96DD-EB127DB37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电源和地线网络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73DBCA-0734-457C-85DB-DCDB8278D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zh-CN" altLang="en-US" dirty="0"/>
              <a:t>洁净网络：</a:t>
            </a:r>
            <a:endParaRPr lang="en-US" dirty="0"/>
          </a:p>
          <a:p>
            <a:r>
              <a:rPr lang="zh-CN" altLang="en-US" dirty="0"/>
              <a:t>洁净地：机柜、电子学机箱、电子学低压电源外壳、高压机箱外壳、</a:t>
            </a:r>
            <a:r>
              <a:rPr lang="en-US" altLang="zh-CN" dirty="0"/>
              <a:t>RPC</a:t>
            </a:r>
            <a:r>
              <a:rPr lang="zh-CN" altLang="en-US" dirty="0"/>
              <a:t>模块外壳（内部直连电子学的地）；</a:t>
            </a:r>
            <a:endParaRPr lang="en-US" altLang="zh-CN" dirty="0"/>
          </a:p>
          <a:p>
            <a:r>
              <a:rPr lang="zh-CN" altLang="en-US" dirty="0"/>
              <a:t>洁净电：电子学低压电源、高压电源（通过隔离电源接入）、</a:t>
            </a:r>
            <a:r>
              <a:rPr lang="en-US" altLang="zh-CN" dirty="0"/>
              <a:t>WR</a:t>
            </a:r>
            <a:r>
              <a:rPr lang="zh-CN" altLang="en-US" dirty="0"/>
              <a:t>交换机、低压电源网络汇总的交换机、散热风扇、测试电脑；</a:t>
            </a:r>
            <a:endParaRPr lang="en-US" altLang="zh-CN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zh-CN" altLang="en-US" dirty="0"/>
              <a:t>脏线网络：</a:t>
            </a:r>
            <a:endParaRPr lang="en-US" altLang="zh-CN" dirty="0"/>
          </a:p>
          <a:p>
            <a:r>
              <a:rPr lang="zh-CN" altLang="en-US" dirty="0"/>
              <a:t>脏电：气体控制系统用的交换机；</a:t>
            </a:r>
            <a:endParaRPr lang="en-US" altLang="zh-CN" dirty="0"/>
          </a:p>
          <a:p>
            <a:r>
              <a:rPr lang="zh-CN" altLang="en-US" dirty="0"/>
              <a:t>脏地：无（注：气体交换机外壳目前计划不接到脏地）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5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DFE70-78B7-72AC-6CE3-9D322ED8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系统干净地接地考虑</a:t>
            </a:r>
          </a:p>
        </p:txBody>
      </p:sp>
      <p:pic>
        <p:nvPicPr>
          <p:cNvPr id="5" name="内容占位符 4" descr="图示&#10;&#10;AI 生成的内容可能不正确。">
            <a:extLst>
              <a:ext uri="{FF2B5EF4-FFF2-40B4-BE49-F238E27FC236}">
                <a16:creationId xmlns:a16="http://schemas.microsoft.com/office/drawing/2014/main" id="{06EE3244-5F1E-3CB2-7D21-C0D94BE04A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559" y="1780997"/>
            <a:ext cx="8415052" cy="435133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43874DB-624F-0484-C1DE-766C82C85AB3}"/>
              </a:ext>
            </a:extLst>
          </p:cNvPr>
          <p:cNvSpPr txBox="1"/>
          <p:nvPr/>
        </p:nvSpPr>
        <p:spPr>
          <a:xfrm>
            <a:off x="545007" y="1846967"/>
            <a:ext cx="239374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由于好的</a:t>
            </a:r>
            <a:r>
              <a:rPr lang="en-US" altLang="zh-CN" dirty="0"/>
              <a:t>RPC</a:t>
            </a:r>
            <a:r>
              <a:rPr lang="zh-CN" altLang="en-US" dirty="0"/>
              <a:t>模块里面，高压地和电子学地是分开的（有个</a:t>
            </a:r>
            <a:r>
              <a:rPr lang="en-US" altLang="zh-CN" dirty="0"/>
              <a:t>4.7k</a:t>
            </a:r>
            <a:r>
              <a:rPr lang="zh-CN" altLang="en-US" dirty="0"/>
              <a:t>欧姆电阻隔开），加上高压机箱加了隔离电压器，因此地线</a:t>
            </a:r>
            <a:r>
              <a:rPr lang="zh-CN" altLang="en-US" dirty="0">
                <a:solidFill>
                  <a:srgbClr val="FF0000"/>
                </a:solidFill>
              </a:rPr>
              <a:t>没有大的闭环</a:t>
            </a:r>
            <a:r>
              <a:rPr lang="zh-CN" altLang="en-US" dirty="0"/>
              <a:t>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需要注意的是，同一个</a:t>
            </a:r>
            <a:r>
              <a:rPr lang="en-US" altLang="zh-CN" dirty="0"/>
              <a:t>RPC</a:t>
            </a:r>
            <a:r>
              <a:rPr lang="zh-CN" altLang="en-US" dirty="0"/>
              <a:t>模块的信号线缆之间会构成地环路，建议引出后束缚在一起后再往机柜走线（</a:t>
            </a:r>
            <a:r>
              <a:rPr lang="en-US" altLang="zh-CN" dirty="0"/>
              <a:t>RPC</a:t>
            </a:r>
            <a:r>
              <a:rPr lang="zh-CN" altLang="en-US" dirty="0"/>
              <a:t>筛选系统就是这么走线）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41345A-614F-A9A7-B4A6-A6BE79E29AD4}"/>
              </a:ext>
            </a:extLst>
          </p:cNvPr>
          <p:cNvSpPr txBox="1"/>
          <p:nvPr/>
        </p:nvSpPr>
        <p:spPr>
          <a:xfrm>
            <a:off x="4160217" y="6358411"/>
            <a:ext cx="7193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绿色方块表示该处的地前后是联通的，蓝色方块表示此处有隔离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D7E228-7646-C86F-A787-074D84B14404}"/>
              </a:ext>
            </a:extLst>
          </p:cNvPr>
          <p:cNvSpPr txBox="1"/>
          <p:nvPr/>
        </p:nvSpPr>
        <p:spPr>
          <a:xfrm>
            <a:off x="8450456" y="2164326"/>
            <a:ext cx="29033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机柜外壳接干净地，机柜不要与护栏等有接触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要求安装时，确保</a:t>
            </a:r>
            <a:r>
              <a:rPr lang="en-US" altLang="zh-CN" dirty="0">
                <a:solidFill>
                  <a:srgbClr val="FF0000"/>
                </a:solidFill>
              </a:rPr>
              <a:t>RPC</a:t>
            </a:r>
            <a:r>
              <a:rPr lang="zh-CN" altLang="en-US" dirty="0">
                <a:solidFill>
                  <a:srgbClr val="FF0000"/>
                </a:solidFill>
              </a:rPr>
              <a:t>模块外壳彼此隔离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755630-820D-43BC-9F93-800C735FD72A}"/>
              </a:ext>
            </a:extLst>
          </p:cNvPr>
          <p:cNvSpPr txBox="1"/>
          <p:nvPr/>
        </p:nvSpPr>
        <p:spPr>
          <a:xfrm>
            <a:off x="3099615" y="1690688"/>
            <a:ext cx="972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00FF"/>
                </a:highlight>
              </a:rPr>
              <a:t>洁净地 地     桩</a:t>
            </a:r>
            <a:endParaRPr lang="en-US" dirty="0"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23219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349D97-AE7C-4958-9489-85AA43BC0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F2A637-0F86-4B39-98B4-B787F7F94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低压电源网络汇总的交换机走</a:t>
            </a:r>
            <a:r>
              <a:rPr lang="zh-CN" altLang="en-US" dirty="0">
                <a:solidFill>
                  <a:srgbClr val="FF0000"/>
                </a:solidFill>
              </a:rPr>
              <a:t>光纤</a:t>
            </a:r>
            <a:r>
              <a:rPr lang="zh-CN" altLang="en-US" dirty="0"/>
              <a:t>到电子学间的慢控交换机；</a:t>
            </a:r>
            <a:endParaRPr lang="en-US" altLang="zh-CN" dirty="0"/>
          </a:p>
          <a:p>
            <a:r>
              <a:rPr lang="zh-CN" altLang="en-US" dirty="0"/>
              <a:t>高压电源目前没有慢控系统；</a:t>
            </a:r>
            <a:endParaRPr lang="en-US" altLang="zh-CN" dirty="0"/>
          </a:p>
          <a:p>
            <a:r>
              <a:rPr lang="en-US" altLang="zh-CN" dirty="0"/>
              <a:t>WR</a:t>
            </a:r>
            <a:r>
              <a:rPr lang="zh-CN" altLang="en-US" dirty="0"/>
              <a:t>交换机分别走</a:t>
            </a:r>
            <a:r>
              <a:rPr lang="zh-CN" altLang="en-US" dirty="0">
                <a:solidFill>
                  <a:srgbClr val="FF0000"/>
                </a:solidFill>
              </a:rPr>
              <a:t>光纤</a:t>
            </a:r>
            <a:r>
              <a:rPr lang="zh-CN" altLang="en-US" dirty="0"/>
              <a:t>连接</a:t>
            </a:r>
            <a:r>
              <a:rPr lang="en-US" altLang="zh-CN" dirty="0"/>
              <a:t>JUNO</a:t>
            </a:r>
            <a:r>
              <a:rPr lang="zh-CN" altLang="en-US" dirty="0"/>
              <a:t>时钟系统和</a:t>
            </a:r>
            <a:r>
              <a:rPr lang="en-US" altLang="zh-CN" dirty="0"/>
              <a:t>DAQ</a:t>
            </a:r>
            <a:r>
              <a:rPr lang="zh-CN" altLang="en-US" dirty="0"/>
              <a:t>交换机；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因此电子学系统和其他系统都是采用光隔离的方式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635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83662-1141-AFF6-3405-D05D65DD4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系统脏地考虑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19048A-450C-F1A1-04B7-8FC6D8116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55077" cy="4351338"/>
          </a:xfrm>
        </p:spPr>
        <p:txBody>
          <a:bodyPr/>
          <a:lstStyle/>
          <a:p>
            <a:r>
              <a:rPr lang="zh-CN" altLang="en-US" dirty="0"/>
              <a:t>探头包括：</a:t>
            </a:r>
            <a:r>
              <a:rPr lang="en-US" altLang="zh-CN" dirty="0"/>
              <a:t>3</a:t>
            </a:r>
            <a:r>
              <a:rPr lang="zh-CN" altLang="en-US" dirty="0"/>
              <a:t>个压力探头，</a:t>
            </a:r>
            <a:r>
              <a:rPr lang="en-US" altLang="zh-CN" dirty="0"/>
              <a:t>16</a:t>
            </a:r>
            <a:r>
              <a:rPr lang="zh-CN" altLang="en-US" dirty="0"/>
              <a:t>个流量探头，</a:t>
            </a:r>
            <a:r>
              <a:rPr lang="en-US" altLang="zh-CN" dirty="0"/>
              <a:t>10</a:t>
            </a:r>
            <a:r>
              <a:rPr lang="zh-CN" altLang="en-US" dirty="0"/>
              <a:t>个温湿度探头。都接脏电；</a:t>
            </a:r>
            <a:endParaRPr lang="en-US" altLang="zh-CN" dirty="0"/>
          </a:p>
          <a:p>
            <a:r>
              <a:rPr lang="zh-CN" altLang="en-US" dirty="0"/>
              <a:t>目前只有一台</a:t>
            </a:r>
            <a:r>
              <a:rPr lang="en-US" altLang="zh-CN" dirty="0"/>
              <a:t>485</a:t>
            </a:r>
            <a:r>
              <a:rPr lang="zh-CN" altLang="en-US" dirty="0"/>
              <a:t>交换机会放在机柜内，需要单独走线；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43E73A42-06BF-73CB-00E4-14AB6A6D3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532" y="1690688"/>
            <a:ext cx="7206097" cy="284707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46842A9-A254-7956-A29F-5649A5393F0A}"/>
              </a:ext>
            </a:extLst>
          </p:cNvPr>
          <p:cNvSpPr txBox="1"/>
          <p:nvPr/>
        </p:nvSpPr>
        <p:spPr>
          <a:xfrm>
            <a:off x="1243106" y="5080000"/>
            <a:ext cx="993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注意：由于机柜外壳是接洁净地，这个</a:t>
            </a:r>
            <a:r>
              <a:rPr lang="en-US" altLang="zh-CN" dirty="0">
                <a:solidFill>
                  <a:srgbClr val="FF0000"/>
                </a:solidFill>
              </a:rPr>
              <a:t>485</a:t>
            </a:r>
            <a:r>
              <a:rPr lang="zh-CN" altLang="en-US" dirty="0">
                <a:solidFill>
                  <a:srgbClr val="FF0000"/>
                </a:solidFill>
              </a:rPr>
              <a:t>交换机外壳需要通过塑料件和机柜进行隔离</a:t>
            </a:r>
            <a:r>
              <a:rPr lang="zh-CN" altLang="en-US" dirty="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1094281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24C73786-48C1-4CBC-A866-4EEE13C66A17}"/>
              </a:ext>
            </a:extLst>
          </p:cNvPr>
          <p:cNvSpPr/>
          <p:nvPr/>
        </p:nvSpPr>
        <p:spPr>
          <a:xfrm>
            <a:off x="4403443" y="2306604"/>
            <a:ext cx="3744686" cy="353568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C216BB-9E7B-4B5D-8F36-6A49BD4B0AC3}"/>
              </a:ext>
            </a:extLst>
          </p:cNvPr>
          <p:cNvSpPr/>
          <p:nvPr/>
        </p:nvSpPr>
        <p:spPr>
          <a:xfrm>
            <a:off x="4823267" y="2561487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292009-AAB8-424E-8712-4760AB077A94}"/>
              </a:ext>
            </a:extLst>
          </p:cNvPr>
          <p:cNvSpPr/>
          <p:nvPr/>
        </p:nvSpPr>
        <p:spPr>
          <a:xfrm>
            <a:off x="4224183" y="3378955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756866-2B5D-443F-8B17-D321EF28F55E}"/>
              </a:ext>
            </a:extLst>
          </p:cNvPr>
          <p:cNvSpPr/>
          <p:nvPr/>
        </p:nvSpPr>
        <p:spPr>
          <a:xfrm>
            <a:off x="4224183" y="4608060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C122DE-83B9-4C0B-89F3-DB0C1E2B0E5C}"/>
              </a:ext>
            </a:extLst>
          </p:cNvPr>
          <p:cNvSpPr/>
          <p:nvPr/>
        </p:nvSpPr>
        <p:spPr>
          <a:xfrm>
            <a:off x="4823266" y="5465855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B8DCDC-3D32-4A8F-9AD6-38AB3DE3C527}"/>
              </a:ext>
            </a:extLst>
          </p:cNvPr>
          <p:cNvSpPr/>
          <p:nvPr/>
        </p:nvSpPr>
        <p:spPr>
          <a:xfrm>
            <a:off x="5376261" y="2779289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A7BD1C-BAD9-455A-B71D-7ADF2F92728D}"/>
              </a:ext>
            </a:extLst>
          </p:cNvPr>
          <p:cNvSpPr/>
          <p:nvPr/>
        </p:nvSpPr>
        <p:spPr>
          <a:xfrm>
            <a:off x="5376261" y="3631532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A90F7E-1CF3-4A28-8865-7B9E02DD4E5A}"/>
              </a:ext>
            </a:extLst>
          </p:cNvPr>
          <p:cNvSpPr/>
          <p:nvPr/>
        </p:nvSpPr>
        <p:spPr>
          <a:xfrm>
            <a:off x="5376261" y="4405398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9DB16C-D599-4642-A974-AA5A3602527F}"/>
              </a:ext>
            </a:extLst>
          </p:cNvPr>
          <p:cNvSpPr/>
          <p:nvPr/>
        </p:nvSpPr>
        <p:spPr>
          <a:xfrm>
            <a:off x="5376260" y="5123841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201185-2D87-4CBF-BBBD-85D0EEBB26DA}"/>
              </a:ext>
            </a:extLst>
          </p:cNvPr>
          <p:cNvSpPr/>
          <p:nvPr/>
        </p:nvSpPr>
        <p:spPr>
          <a:xfrm>
            <a:off x="6904615" y="2779289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45A926-0757-43FF-80FD-B9AA30AA0178}"/>
              </a:ext>
            </a:extLst>
          </p:cNvPr>
          <p:cNvSpPr/>
          <p:nvPr/>
        </p:nvSpPr>
        <p:spPr>
          <a:xfrm>
            <a:off x="6904615" y="3631532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F1DFAA-06B1-4427-AD29-90DFDCA022D2}"/>
              </a:ext>
            </a:extLst>
          </p:cNvPr>
          <p:cNvSpPr/>
          <p:nvPr/>
        </p:nvSpPr>
        <p:spPr>
          <a:xfrm>
            <a:off x="6904615" y="4405398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E5E255-D50A-455D-9BFC-E7859DD4A628}"/>
              </a:ext>
            </a:extLst>
          </p:cNvPr>
          <p:cNvSpPr/>
          <p:nvPr/>
        </p:nvSpPr>
        <p:spPr>
          <a:xfrm>
            <a:off x="6904614" y="5123841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6063C7-6001-4C00-AA1D-8C26426503AF}"/>
              </a:ext>
            </a:extLst>
          </p:cNvPr>
          <p:cNvSpPr/>
          <p:nvPr/>
        </p:nvSpPr>
        <p:spPr>
          <a:xfrm>
            <a:off x="7596947" y="2575185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EA2C0E-5F43-441D-8594-71E9B52BCE37}"/>
              </a:ext>
            </a:extLst>
          </p:cNvPr>
          <p:cNvSpPr/>
          <p:nvPr/>
        </p:nvSpPr>
        <p:spPr>
          <a:xfrm>
            <a:off x="7596946" y="5479553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589E26-5CDF-4368-80D4-DF994E847840}"/>
              </a:ext>
            </a:extLst>
          </p:cNvPr>
          <p:cNvSpPr/>
          <p:nvPr/>
        </p:nvSpPr>
        <p:spPr>
          <a:xfrm>
            <a:off x="8148129" y="3378955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687B62-086A-4C64-AC04-580A5D1E5846}"/>
              </a:ext>
            </a:extLst>
          </p:cNvPr>
          <p:cNvSpPr/>
          <p:nvPr/>
        </p:nvSpPr>
        <p:spPr>
          <a:xfrm>
            <a:off x="8148129" y="4608060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55015C-686A-4ADF-81D5-DEAB27F7469C}"/>
              </a:ext>
            </a:extLst>
          </p:cNvPr>
          <p:cNvSpPr txBox="1"/>
          <p:nvPr/>
        </p:nvSpPr>
        <p:spPr>
          <a:xfrm>
            <a:off x="3682513" y="3241032"/>
            <a:ext cx="888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32U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B953E55-D394-447F-B090-87C1C55ED4CA}"/>
              </a:ext>
            </a:extLst>
          </p:cNvPr>
          <p:cNvSpPr txBox="1"/>
          <p:nvPr/>
        </p:nvSpPr>
        <p:spPr>
          <a:xfrm>
            <a:off x="3706026" y="4544792"/>
            <a:ext cx="888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32U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7220B85-9678-40C8-AF73-5CA979A6A447}"/>
              </a:ext>
            </a:extLst>
          </p:cNvPr>
          <p:cNvSpPr txBox="1"/>
          <p:nvPr/>
        </p:nvSpPr>
        <p:spPr>
          <a:xfrm>
            <a:off x="8424922" y="3248384"/>
            <a:ext cx="888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32U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BE500CA-56A5-45D7-B702-847E90DA8736}"/>
              </a:ext>
            </a:extLst>
          </p:cNvPr>
          <p:cNvSpPr txBox="1"/>
          <p:nvPr/>
        </p:nvSpPr>
        <p:spPr>
          <a:xfrm>
            <a:off x="8438422" y="4501771"/>
            <a:ext cx="888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32U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AF9C5A-AEA7-4C0C-9E24-0286F48564C0}"/>
              </a:ext>
            </a:extLst>
          </p:cNvPr>
          <p:cNvSpPr/>
          <p:nvPr/>
        </p:nvSpPr>
        <p:spPr>
          <a:xfrm>
            <a:off x="1581150" y="2438400"/>
            <a:ext cx="1201513" cy="24757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zh-CN" altLang="en-US" dirty="0"/>
              <a:t>号间</a:t>
            </a:r>
            <a:endParaRPr 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DEE94FA-53ED-4308-B1BF-A072F2370E90}"/>
              </a:ext>
            </a:extLst>
          </p:cNvPr>
          <p:cNvSpPr/>
          <p:nvPr/>
        </p:nvSpPr>
        <p:spPr>
          <a:xfrm>
            <a:off x="10010093" y="2438400"/>
            <a:ext cx="1201513" cy="24757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zh-CN" altLang="en-US" dirty="0"/>
              <a:t>号间</a:t>
            </a:r>
            <a:endParaRPr 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BC00234-62A8-4848-829E-B3BBE8FA4232}"/>
              </a:ext>
            </a:extLst>
          </p:cNvPr>
          <p:cNvSpPr txBox="1"/>
          <p:nvPr/>
        </p:nvSpPr>
        <p:spPr>
          <a:xfrm>
            <a:off x="7493318" y="2140205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E2945AD-1986-4BB2-AABE-CDE050674D8A}"/>
              </a:ext>
            </a:extLst>
          </p:cNvPr>
          <p:cNvSpPr txBox="1"/>
          <p:nvPr/>
        </p:nvSpPr>
        <p:spPr>
          <a:xfrm>
            <a:off x="8167185" y="3631532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56A9641-2038-4D92-83FF-4D2C8D01FAFC}"/>
              </a:ext>
            </a:extLst>
          </p:cNvPr>
          <p:cNvSpPr txBox="1"/>
          <p:nvPr/>
        </p:nvSpPr>
        <p:spPr>
          <a:xfrm>
            <a:off x="7576784" y="5680681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A04F4D9-D96A-4399-B9A5-97AC495E58DD}"/>
              </a:ext>
            </a:extLst>
          </p:cNvPr>
          <p:cNvSpPr txBox="1"/>
          <p:nvPr/>
        </p:nvSpPr>
        <p:spPr>
          <a:xfrm>
            <a:off x="6448152" y="2688128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18B03F5-DAA5-416A-AAEE-5BC6A1B8C02B}"/>
              </a:ext>
            </a:extLst>
          </p:cNvPr>
          <p:cNvSpPr txBox="1"/>
          <p:nvPr/>
        </p:nvSpPr>
        <p:spPr>
          <a:xfrm>
            <a:off x="6466543" y="3464733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76B3ADD-9B6F-488C-8675-F2766F656686}"/>
              </a:ext>
            </a:extLst>
          </p:cNvPr>
          <p:cNvSpPr txBox="1"/>
          <p:nvPr/>
        </p:nvSpPr>
        <p:spPr>
          <a:xfrm>
            <a:off x="6456264" y="4250855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0FC3823-B1B3-4600-9439-7AE0240A5267}"/>
              </a:ext>
            </a:extLst>
          </p:cNvPr>
          <p:cNvSpPr txBox="1"/>
          <p:nvPr/>
        </p:nvSpPr>
        <p:spPr>
          <a:xfrm>
            <a:off x="6438024" y="5055943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18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FEAE530-6DF9-4692-864F-230B177DFA72}"/>
              </a:ext>
            </a:extLst>
          </p:cNvPr>
          <p:cNvSpPr txBox="1"/>
          <p:nvPr/>
        </p:nvSpPr>
        <p:spPr>
          <a:xfrm>
            <a:off x="4721449" y="5725962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872E755-610F-4DB2-AFCB-76D15A68DE0E}"/>
              </a:ext>
            </a:extLst>
          </p:cNvPr>
          <p:cNvSpPr txBox="1"/>
          <p:nvPr/>
        </p:nvSpPr>
        <p:spPr>
          <a:xfrm>
            <a:off x="3828028" y="4223900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7415CB3-E530-47C4-917D-12F0E1ECB91E}"/>
              </a:ext>
            </a:extLst>
          </p:cNvPr>
          <p:cNvSpPr txBox="1"/>
          <p:nvPr/>
        </p:nvSpPr>
        <p:spPr>
          <a:xfrm>
            <a:off x="3815267" y="3581423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190C937-7576-4BCA-A685-ADE5F7472663}"/>
              </a:ext>
            </a:extLst>
          </p:cNvPr>
          <p:cNvSpPr txBox="1"/>
          <p:nvPr/>
        </p:nvSpPr>
        <p:spPr>
          <a:xfrm>
            <a:off x="5663644" y="5036977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23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A7CEDC4-0261-4D8F-9512-978B9688FADE}"/>
              </a:ext>
            </a:extLst>
          </p:cNvPr>
          <p:cNvSpPr txBox="1"/>
          <p:nvPr/>
        </p:nvSpPr>
        <p:spPr>
          <a:xfrm>
            <a:off x="5600217" y="4293143"/>
            <a:ext cx="1501209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24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562D0F2-1325-4FDB-A1B9-ABBD82F950B3}"/>
              </a:ext>
            </a:extLst>
          </p:cNvPr>
          <p:cNvSpPr txBox="1"/>
          <p:nvPr/>
        </p:nvSpPr>
        <p:spPr>
          <a:xfrm>
            <a:off x="5620145" y="3504323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3450788-61BC-4492-B9ED-ACEFDA79CD01}"/>
              </a:ext>
            </a:extLst>
          </p:cNvPr>
          <p:cNvSpPr txBox="1"/>
          <p:nvPr/>
        </p:nvSpPr>
        <p:spPr>
          <a:xfrm>
            <a:off x="5577977" y="2664151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26</a:t>
            </a: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82B15109-26FF-4A31-9B09-DCB3055C9E92}"/>
              </a:ext>
            </a:extLst>
          </p:cNvPr>
          <p:cNvSpPr/>
          <p:nvPr/>
        </p:nvSpPr>
        <p:spPr>
          <a:xfrm>
            <a:off x="5663644" y="861848"/>
            <a:ext cx="432356" cy="381269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E7186F5-5EEC-413A-AC74-11D1437D593F}"/>
              </a:ext>
            </a:extLst>
          </p:cNvPr>
          <p:cNvSpPr txBox="1"/>
          <p:nvPr/>
        </p:nvSpPr>
        <p:spPr>
          <a:xfrm>
            <a:off x="6368937" y="879174"/>
            <a:ext cx="1377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中间洁净地节点</a:t>
            </a:r>
            <a:endParaRPr lang="en-US" dirty="0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E3D9E1FA-3844-44FE-AF65-2A6D1908E6C7}"/>
              </a:ext>
            </a:extLst>
          </p:cNvPr>
          <p:cNvSpPr/>
          <p:nvPr/>
        </p:nvSpPr>
        <p:spPr>
          <a:xfrm>
            <a:off x="2825035" y="3641852"/>
            <a:ext cx="432356" cy="381269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739F7D9A-E4AF-4E15-B543-15B82C1BC070}"/>
              </a:ext>
            </a:extLst>
          </p:cNvPr>
          <p:cNvSpPr/>
          <p:nvPr/>
        </p:nvSpPr>
        <p:spPr>
          <a:xfrm>
            <a:off x="9366965" y="3601925"/>
            <a:ext cx="432356" cy="381269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7B33214-DD0C-4843-98DB-0747E97A362F}"/>
              </a:ext>
            </a:extLst>
          </p:cNvPr>
          <p:cNvSpPr txBox="1"/>
          <p:nvPr/>
        </p:nvSpPr>
        <p:spPr>
          <a:xfrm>
            <a:off x="2781774" y="4176712"/>
            <a:ext cx="814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洁净地节点</a:t>
            </a:r>
            <a:endParaRPr 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E973FDF-DCB7-42E0-8249-90AECF5B7C21}"/>
              </a:ext>
            </a:extLst>
          </p:cNvPr>
          <p:cNvSpPr txBox="1"/>
          <p:nvPr/>
        </p:nvSpPr>
        <p:spPr>
          <a:xfrm>
            <a:off x="9219935" y="4244100"/>
            <a:ext cx="814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洁净地节点</a:t>
            </a:r>
            <a:endParaRPr lang="en-US" dirty="0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7F0FE109-A01D-4F99-8A4E-C3A818B83F41}"/>
              </a:ext>
            </a:extLst>
          </p:cNvPr>
          <p:cNvSpPr/>
          <p:nvPr/>
        </p:nvSpPr>
        <p:spPr>
          <a:xfrm>
            <a:off x="2903147" y="2779289"/>
            <a:ext cx="432356" cy="381269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BB4B97A-F7BA-4D6F-886E-C96FEA3FA711}"/>
              </a:ext>
            </a:extLst>
          </p:cNvPr>
          <p:cNvSpPr txBox="1"/>
          <p:nvPr/>
        </p:nvSpPr>
        <p:spPr>
          <a:xfrm>
            <a:off x="2805522" y="2094872"/>
            <a:ext cx="814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脏地节点</a:t>
            </a:r>
            <a:endParaRPr lang="en-US" dirty="0"/>
          </a:p>
        </p:txBody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E1E40B09-D301-411C-BE0D-CFA641C00766}"/>
              </a:ext>
            </a:extLst>
          </p:cNvPr>
          <p:cNvSpPr/>
          <p:nvPr/>
        </p:nvSpPr>
        <p:spPr>
          <a:xfrm>
            <a:off x="3140399" y="2847813"/>
            <a:ext cx="1192696" cy="516911"/>
          </a:xfrm>
          <a:custGeom>
            <a:avLst/>
            <a:gdLst>
              <a:gd name="connsiteX0" fmla="*/ 0 w 1192696"/>
              <a:gd name="connsiteY0" fmla="*/ 0 h 516911"/>
              <a:gd name="connsiteX1" fmla="*/ 92765 w 1192696"/>
              <a:gd name="connsiteY1" fmla="*/ 39757 h 516911"/>
              <a:gd name="connsiteX2" fmla="*/ 159026 w 1192696"/>
              <a:gd name="connsiteY2" fmla="*/ 79513 h 516911"/>
              <a:gd name="connsiteX3" fmla="*/ 265044 w 1192696"/>
              <a:gd name="connsiteY3" fmla="*/ 106018 h 516911"/>
              <a:gd name="connsiteX4" fmla="*/ 397565 w 1192696"/>
              <a:gd name="connsiteY4" fmla="*/ 159026 h 516911"/>
              <a:gd name="connsiteX5" fmla="*/ 490330 w 1192696"/>
              <a:gd name="connsiteY5" fmla="*/ 212035 h 516911"/>
              <a:gd name="connsiteX6" fmla="*/ 530087 w 1192696"/>
              <a:gd name="connsiteY6" fmla="*/ 238539 h 516911"/>
              <a:gd name="connsiteX7" fmla="*/ 609600 w 1192696"/>
              <a:gd name="connsiteY7" fmla="*/ 265044 h 516911"/>
              <a:gd name="connsiteX8" fmla="*/ 649357 w 1192696"/>
              <a:gd name="connsiteY8" fmla="*/ 278296 h 516911"/>
              <a:gd name="connsiteX9" fmla="*/ 689113 w 1192696"/>
              <a:gd name="connsiteY9" fmla="*/ 291548 h 516911"/>
              <a:gd name="connsiteX10" fmla="*/ 742122 w 1192696"/>
              <a:gd name="connsiteY10" fmla="*/ 304800 h 516911"/>
              <a:gd name="connsiteX11" fmla="*/ 901148 w 1192696"/>
              <a:gd name="connsiteY11" fmla="*/ 357809 h 516911"/>
              <a:gd name="connsiteX12" fmla="*/ 980661 w 1192696"/>
              <a:gd name="connsiteY12" fmla="*/ 384313 h 516911"/>
              <a:gd name="connsiteX13" fmla="*/ 1020417 w 1192696"/>
              <a:gd name="connsiteY13" fmla="*/ 410818 h 516911"/>
              <a:gd name="connsiteX14" fmla="*/ 1060174 w 1192696"/>
              <a:gd name="connsiteY14" fmla="*/ 424070 h 516911"/>
              <a:gd name="connsiteX15" fmla="*/ 1152939 w 1192696"/>
              <a:gd name="connsiteY15" fmla="*/ 477079 h 516911"/>
              <a:gd name="connsiteX16" fmla="*/ 1192696 w 1192696"/>
              <a:gd name="connsiteY16" fmla="*/ 516835 h 516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92696" h="516911">
                <a:moveTo>
                  <a:pt x="0" y="0"/>
                </a:moveTo>
                <a:cubicBezTo>
                  <a:pt x="30922" y="13252"/>
                  <a:pt x="62675" y="24712"/>
                  <a:pt x="92765" y="39757"/>
                </a:cubicBezTo>
                <a:cubicBezTo>
                  <a:pt x="115803" y="51276"/>
                  <a:pt x="134985" y="70267"/>
                  <a:pt x="159026" y="79513"/>
                </a:cubicBezTo>
                <a:cubicBezTo>
                  <a:pt x="193025" y="92590"/>
                  <a:pt x="230739" y="93766"/>
                  <a:pt x="265044" y="106018"/>
                </a:cubicBezTo>
                <a:cubicBezTo>
                  <a:pt x="488580" y="185852"/>
                  <a:pt x="237301" y="118960"/>
                  <a:pt x="397565" y="159026"/>
                </a:cubicBezTo>
                <a:cubicBezTo>
                  <a:pt x="449069" y="210530"/>
                  <a:pt x="396898" y="165319"/>
                  <a:pt x="490330" y="212035"/>
                </a:cubicBezTo>
                <a:cubicBezTo>
                  <a:pt x="504576" y="219158"/>
                  <a:pt x="515533" y="232070"/>
                  <a:pt x="530087" y="238539"/>
                </a:cubicBezTo>
                <a:cubicBezTo>
                  <a:pt x="555617" y="249886"/>
                  <a:pt x="583096" y="256209"/>
                  <a:pt x="609600" y="265044"/>
                </a:cubicBezTo>
                <a:lnTo>
                  <a:pt x="649357" y="278296"/>
                </a:lnTo>
                <a:cubicBezTo>
                  <a:pt x="662609" y="282713"/>
                  <a:pt x="675561" y="288160"/>
                  <a:pt x="689113" y="291548"/>
                </a:cubicBezTo>
                <a:lnTo>
                  <a:pt x="742122" y="304800"/>
                </a:lnTo>
                <a:cubicBezTo>
                  <a:pt x="861651" y="364567"/>
                  <a:pt x="713381" y="295221"/>
                  <a:pt x="901148" y="357809"/>
                </a:cubicBezTo>
                <a:lnTo>
                  <a:pt x="980661" y="384313"/>
                </a:lnTo>
                <a:cubicBezTo>
                  <a:pt x="993913" y="393148"/>
                  <a:pt x="1006171" y="403695"/>
                  <a:pt x="1020417" y="410818"/>
                </a:cubicBezTo>
                <a:cubicBezTo>
                  <a:pt x="1032911" y="417065"/>
                  <a:pt x="1048045" y="417139"/>
                  <a:pt x="1060174" y="424070"/>
                </a:cubicBezTo>
                <a:cubicBezTo>
                  <a:pt x="1172503" y="488257"/>
                  <a:pt x="1061780" y="446690"/>
                  <a:pt x="1152939" y="477079"/>
                </a:cubicBezTo>
                <a:cubicBezTo>
                  <a:pt x="1181894" y="520510"/>
                  <a:pt x="1163517" y="516835"/>
                  <a:pt x="1192696" y="516835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93AF6D2-81E5-4833-B760-1D6B18B66325}"/>
              </a:ext>
            </a:extLst>
          </p:cNvPr>
          <p:cNvSpPr txBox="1"/>
          <p:nvPr/>
        </p:nvSpPr>
        <p:spPr>
          <a:xfrm>
            <a:off x="4452629" y="2198160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A2C441F-47D7-4923-9D69-B2673665301F}"/>
              </a:ext>
            </a:extLst>
          </p:cNvPr>
          <p:cNvSpPr txBox="1"/>
          <p:nvPr/>
        </p:nvSpPr>
        <p:spPr>
          <a:xfrm>
            <a:off x="2583202" y="6321010"/>
            <a:ext cx="7011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这种地线路由不会与</a:t>
            </a:r>
            <a:r>
              <a:rPr lang="en-US" altLang="zh-CN" dirty="0"/>
              <a:t>RPC</a:t>
            </a:r>
            <a:r>
              <a:rPr lang="zh-CN" altLang="en-US" dirty="0"/>
              <a:t>模块有干涉，中间机柜的地线都沿</a:t>
            </a:r>
            <a:r>
              <a:rPr lang="en-US" altLang="zh-CN" dirty="0"/>
              <a:t>TT</a:t>
            </a:r>
            <a:r>
              <a:rPr lang="zh-CN" altLang="en-US" dirty="0"/>
              <a:t>桥布线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3AAACFCE-34C2-414B-9EAF-F230849219E4}"/>
              </a:ext>
            </a:extLst>
          </p:cNvPr>
          <p:cNvSpPr/>
          <p:nvPr/>
        </p:nvSpPr>
        <p:spPr>
          <a:xfrm>
            <a:off x="2997200" y="2175933"/>
            <a:ext cx="5240867" cy="1638753"/>
          </a:xfrm>
          <a:custGeom>
            <a:avLst/>
            <a:gdLst>
              <a:gd name="connsiteX0" fmla="*/ 0 w 5240867"/>
              <a:gd name="connsiteY0" fmla="*/ 1625600 h 1638753"/>
              <a:gd name="connsiteX1" fmla="*/ 304800 w 5240867"/>
              <a:gd name="connsiteY1" fmla="*/ 1625600 h 1638753"/>
              <a:gd name="connsiteX2" fmla="*/ 372533 w 5240867"/>
              <a:gd name="connsiteY2" fmla="*/ 1600200 h 1638753"/>
              <a:gd name="connsiteX3" fmla="*/ 499533 w 5240867"/>
              <a:gd name="connsiteY3" fmla="*/ 1591734 h 1638753"/>
              <a:gd name="connsiteX4" fmla="*/ 558800 w 5240867"/>
              <a:gd name="connsiteY4" fmla="*/ 1583267 h 1638753"/>
              <a:gd name="connsiteX5" fmla="*/ 601133 w 5240867"/>
              <a:gd name="connsiteY5" fmla="*/ 1566334 h 1638753"/>
              <a:gd name="connsiteX6" fmla="*/ 660400 w 5240867"/>
              <a:gd name="connsiteY6" fmla="*/ 1557867 h 1638753"/>
              <a:gd name="connsiteX7" fmla="*/ 711200 w 5240867"/>
              <a:gd name="connsiteY7" fmla="*/ 1524000 h 1638753"/>
              <a:gd name="connsiteX8" fmla="*/ 770467 w 5240867"/>
              <a:gd name="connsiteY8" fmla="*/ 1481667 h 1638753"/>
              <a:gd name="connsiteX9" fmla="*/ 863600 w 5240867"/>
              <a:gd name="connsiteY9" fmla="*/ 1456267 h 1638753"/>
              <a:gd name="connsiteX10" fmla="*/ 931333 w 5240867"/>
              <a:gd name="connsiteY10" fmla="*/ 1430867 h 1638753"/>
              <a:gd name="connsiteX11" fmla="*/ 990600 w 5240867"/>
              <a:gd name="connsiteY11" fmla="*/ 1413934 h 1638753"/>
              <a:gd name="connsiteX12" fmla="*/ 1016000 w 5240867"/>
              <a:gd name="connsiteY12" fmla="*/ 1405467 h 1638753"/>
              <a:gd name="connsiteX13" fmla="*/ 1075267 w 5240867"/>
              <a:gd name="connsiteY13" fmla="*/ 1397000 h 1638753"/>
              <a:gd name="connsiteX14" fmla="*/ 1109133 w 5240867"/>
              <a:gd name="connsiteY14" fmla="*/ 1380067 h 1638753"/>
              <a:gd name="connsiteX15" fmla="*/ 1244600 w 5240867"/>
              <a:gd name="connsiteY15" fmla="*/ 1363134 h 1638753"/>
              <a:gd name="connsiteX16" fmla="*/ 1320800 w 5240867"/>
              <a:gd name="connsiteY16" fmla="*/ 1329267 h 1638753"/>
              <a:gd name="connsiteX17" fmla="*/ 1380067 w 5240867"/>
              <a:gd name="connsiteY17" fmla="*/ 1295400 h 1638753"/>
              <a:gd name="connsiteX18" fmla="*/ 1397000 w 5240867"/>
              <a:gd name="connsiteY18" fmla="*/ 1270000 h 1638753"/>
              <a:gd name="connsiteX19" fmla="*/ 1422400 w 5240867"/>
              <a:gd name="connsiteY19" fmla="*/ 1236134 h 1638753"/>
              <a:gd name="connsiteX20" fmla="*/ 1447800 w 5240867"/>
              <a:gd name="connsiteY20" fmla="*/ 1193800 h 1638753"/>
              <a:gd name="connsiteX21" fmla="*/ 1439333 w 5240867"/>
              <a:gd name="connsiteY21" fmla="*/ 1143000 h 1638753"/>
              <a:gd name="connsiteX22" fmla="*/ 1456267 w 5240867"/>
              <a:gd name="connsiteY22" fmla="*/ 1058334 h 1638753"/>
              <a:gd name="connsiteX23" fmla="*/ 1464733 w 5240867"/>
              <a:gd name="connsiteY23" fmla="*/ 1007534 h 1638753"/>
              <a:gd name="connsiteX24" fmla="*/ 1481667 w 5240867"/>
              <a:gd name="connsiteY24" fmla="*/ 982134 h 1638753"/>
              <a:gd name="connsiteX25" fmla="*/ 1515533 w 5240867"/>
              <a:gd name="connsiteY25" fmla="*/ 914400 h 1638753"/>
              <a:gd name="connsiteX26" fmla="*/ 1515533 w 5240867"/>
              <a:gd name="connsiteY26" fmla="*/ 914400 h 1638753"/>
              <a:gd name="connsiteX27" fmla="*/ 1540933 w 5240867"/>
              <a:gd name="connsiteY27" fmla="*/ 863600 h 1638753"/>
              <a:gd name="connsiteX28" fmla="*/ 1574800 w 5240867"/>
              <a:gd name="connsiteY28" fmla="*/ 812800 h 1638753"/>
              <a:gd name="connsiteX29" fmla="*/ 1591733 w 5240867"/>
              <a:gd name="connsiteY29" fmla="*/ 762000 h 1638753"/>
              <a:gd name="connsiteX30" fmla="*/ 1617133 w 5240867"/>
              <a:gd name="connsiteY30" fmla="*/ 736600 h 1638753"/>
              <a:gd name="connsiteX31" fmla="*/ 1642533 w 5240867"/>
              <a:gd name="connsiteY31" fmla="*/ 677334 h 1638753"/>
              <a:gd name="connsiteX32" fmla="*/ 1659467 w 5240867"/>
              <a:gd name="connsiteY32" fmla="*/ 660400 h 1638753"/>
              <a:gd name="connsiteX33" fmla="*/ 1710267 w 5240867"/>
              <a:gd name="connsiteY33" fmla="*/ 609600 h 1638753"/>
              <a:gd name="connsiteX34" fmla="*/ 1727200 w 5240867"/>
              <a:gd name="connsiteY34" fmla="*/ 584200 h 1638753"/>
              <a:gd name="connsiteX35" fmla="*/ 1778000 w 5240867"/>
              <a:gd name="connsiteY35" fmla="*/ 550334 h 1638753"/>
              <a:gd name="connsiteX36" fmla="*/ 1811867 w 5240867"/>
              <a:gd name="connsiteY36" fmla="*/ 524934 h 1638753"/>
              <a:gd name="connsiteX37" fmla="*/ 1828800 w 5240867"/>
              <a:gd name="connsiteY37" fmla="*/ 499534 h 1638753"/>
              <a:gd name="connsiteX38" fmla="*/ 1862667 w 5240867"/>
              <a:gd name="connsiteY38" fmla="*/ 482600 h 1638753"/>
              <a:gd name="connsiteX39" fmla="*/ 1888067 w 5240867"/>
              <a:gd name="connsiteY39" fmla="*/ 465667 h 1638753"/>
              <a:gd name="connsiteX40" fmla="*/ 1964267 w 5240867"/>
              <a:gd name="connsiteY40" fmla="*/ 406400 h 1638753"/>
              <a:gd name="connsiteX41" fmla="*/ 1998133 w 5240867"/>
              <a:gd name="connsiteY41" fmla="*/ 397934 h 1638753"/>
              <a:gd name="connsiteX42" fmla="*/ 2023533 w 5240867"/>
              <a:gd name="connsiteY42" fmla="*/ 381000 h 1638753"/>
              <a:gd name="connsiteX43" fmla="*/ 2099733 w 5240867"/>
              <a:gd name="connsiteY43" fmla="*/ 364067 h 1638753"/>
              <a:gd name="connsiteX44" fmla="*/ 2150533 w 5240867"/>
              <a:gd name="connsiteY44" fmla="*/ 347134 h 1638753"/>
              <a:gd name="connsiteX45" fmla="*/ 2192867 w 5240867"/>
              <a:gd name="connsiteY45" fmla="*/ 338667 h 1638753"/>
              <a:gd name="connsiteX46" fmla="*/ 2252133 w 5240867"/>
              <a:gd name="connsiteY46" fmla="*/ 313267 h 1638753"/>
              <a:gd name="connsiteX47" fmla="*/ 2319867 w 5240867"/>
              <a:gd name="connsiteY47" fmla="*/ 304800 h 1638753"/>
              <a:gd name="connsiteX48" fmla="*/ 2379133 w 5240867"/>
              <a:gd name="connsiteY48" fmla="*/ 279400 h 1638753"/>
              <a:gd name="connsiteX49" fmla="*/ 2429933 w 5240867"/>
              <a:gd name="connsiteY49" fmla="*/ 270934 h 1638753"/>
              <a:gd name="connsiteX50" fmla="*/ 2455333 w 5240867"/>
              <a:gd name="connsiteY50" fmla="*/ 254000 h 1638753"/>
              <a:gd name="connsiteX51" fmla="*/ 2506133 w 5240867"/>
              <a:gd name="connsiteY51" fmla="*/ 237067 h 1638753"/>
              <a:gd name="connsiteX52" fmla="*/ 2548467 w 5240867"/>
              <a:gd name="connsiteY52" fmla="*/ 220134 h 1638753"/>
              <a:gd name="connsiteX53" fmla="*/ 2590800 w 5240867"/>
              <a:gd name="connsiteY53" fmla="*/ 186267 h 1638753"/>
              <a:gd name="connsiteX54" fmla="*/ 2633133 w 5240867"/>
              <a:gd name="connsiteY54" fmla="*/ 177800 h 1638753"/>
              <a:gd name="connsiteX55" fmla="*/ 2658533 w 5240867"/>
              <a:gd name="connsiteY55" fmla="*/ 169334 h 1638753"/>
              <a:gd name="connsiteX56" fmla="*/ 2709333 w 5240867"/>
              <a:gd name="connsiteY56" fmla="*/ 143934 h 1638753"/>
              <a:gd name="connsiteX57" fmla="*/ 2777067 w 5240867"/>
              <a:gd name="connsiteY57" fmla="*/ 127000 h 1638753"/>
              <a:gd name="connsiteX58" fmla="*/ 2878667 w 5240867"/>
              <a:gd name="connsiteY58" fmla="*/ 101600 h 1638753"/>
              <a:gd name="connsiteX59" fmla="*/ 2946400 w 5240867"/>
              <a:gd name="connsiteY59" fmla="*/ 76200 h 1638753"/>
              <a:gd name="connsiteX60" fmla="*/ 3005667 w 5240867"/>
              <a:gd name="connsiteY60" fmla="*/ 59267 h 1638753"/>
              <a:gd name="connsiteX61" fmla="*/ 3090333 w 5240867"/>
              <a:gd name="connsiteY61" fmla="*/ 42334 h 1638753"/>
              <a:gd name="connsiteX62" fmla="*/ 3115733 w 5240867"/>
              <a:gd name="connsiteY62" fmla="*/ 25400 h 1638753"/>
              <a:gd name="connsiteX63" fmla="*/ 3208867 w 5240867"/>
              <a:gd name="connsiteY63" fmla="*/ 8467 h 1638753"/>
              <a:gd name="connsiteX64" fmla="*/ 3268133 w 5240867"/>
              <a:gd name="connsiteY64" fmla="*/ 0 h 1638753"/>
              <a:gd name="connsiteX65" fmla="*/ 3843867 w 5240867"/>
              <a:gd name="connsiteY65" fmla="*/ 8467 h 1638753"/>
              <a:gd name="connsiteX66" fmla="*/ 3894667 w 5240867"/>
              <a:gd name="connsiteY66" fmla="*/ 16934 h 1638753"/>
              <a:gd name="connsiteX67" fmla="*/ 3937000 w 5240867"/>
              <a:gd name="connsiteY67" fmla="*/ 33867 h 1638753"/>
              <a:gd name="connsiteX68" fmla="*/ 3962400 w 5240867"/>
              <a:gd name="connsiteY68" fmla="*/ 42334 h 1638753"/>
              <a:gd name="connsiteX69" fmla="*/ 4030133 w 5240867"/>
              <a:gd name="connsiteY69" fmla="*/ 59267 h 1638753"/>
              <a:gd name="connsiteX70" fmla="*/ 4131733 w 5240867"/>
              <a:gd name="connsiteY70" fmla="*/ 84667 h 1638753"/>
              <a:gd name="connsiteX71" fmla="*/ 4199467 w 5240867"/>
              <a:gd name="connsiteY71" fmla="*/ 118534 h 1638753"/>
              <a:gd name="connsiteX72" fmla="*/ 4233333 w 5240867"/>
              <a:gd name="connsiteY72" fmla="*/ 135467 h 1638753"/>
              <a:gd name="connsiteX73" fmla="*/ 4292600 w 5240867"/>
              <a:gd name="connsiteY73" fmla="*/ 177800 h 1638753"/>
              <a:gd name="connsiteX74" fmla="*/ 4326467 w 5240867"/>
              <a:gd name="connsiteY74" fmla="*/ 194734 h 1638753"/>
              <a:gd name="connsiteX75" fmla="*/ 4360333 w 5240867"/>
              <a:gd name="connsiteY75" fmla="*/ 220134 h 1638753"/>
              <a:gd name="connsiteX76" fmla="*/ 4385733 w 5240867"/>
              <a:gd name="connsiteY76" fmla="*/ 237067 h 1638753"/>
              <a:gd name="connsiteX77" fmla="*/ 4402667 w 5240867"/>
              <a:gd name="connsiteY77" fmla="*/ 254000 h 1638753"/>
              <a:gd name="connsiteX78" fmla="*/ 4453467 w 5240867"/>
              <a:gd name="connsiteY78" fmla="*/ 287867 h 1638753"/>
              <a:gd name="connsiteX79" fmla="*/ 4495800 w 5240867"/>
              <a:gd name="connsiteY79" fmla="*/ 347134 h 1638753"/>
              <a:gd name="connsiteX80" fmla="*/ 4529667 w 5240867"/>
              <a:gd name="connsiteY80" fmla="*/ 389467 h 1638753"/>
              <a:gd name="connsiteX81" fmla="*/ 4580467 w 5240867"/>
              <a:gd name="connsiteY81" fmla="*/ 423334 h 1638753"/>
              <a:gd name="connsiteX82" fmla="*/ 4605867 w 5240867"/>
              <a:gd name="connsiteY82" fmla="*/ 440267 h 1638753"/>
              <a:gd name="connsiteX83" fmla="*/ 4682067 w 5240867"/>
              <a:gd name="connsiteY83" fmla="*/ 516467 h 1638753"/>
              <a:gd name="connsiteX84" fmla="*/ 4715933 w 5240867"/>
              <a:gd name="connsiteY84" fmla="*/ 550334 h 1638753"/>
              <a:gd name="connsiteX85" fmla="*/ 4749800 w 5240867"/>
              <a:gd name="connsiteY85" fmla="*/ 592667 h 1638753"/>
              <a:gd name="connsiteX86" fmla="*/ 4792133 w 5240867"/>
              <a:gd name="connsiteY86" fmla="*/ 635000 h 1638753"/>
              <a:gd name="connsiteX87" fmla="*/ 4809067 w 5240867"/>
              <a:gd name="connsiteY87" fmla="*/ 660400 h 1638753"/>
              <a:gd name="connsiteX88" fmla="*/ 4826000 w 5240867"/>
              <a:gd name="connsiteY88" fmla="*/ 677334 h 1638753"/>
              <a:gd name="connsiteX89" fmla="*/ 4834467 w 5240867"/>
              <a:gd name="connsiteY89" fmla="*/ 702734 h 1638753"/>
              <a:gd name="connsiteX90" fmla="*/ 4868333 w 5240867"/>
              <a:gd name="connsiteY90" fmla="*/ 728134 h 1638753"/>
              <a:gd name="connsiteX91" fmla="*/ 4902200 w 5240867"/>
              <a:gd name="connsiteY91" fmla="*/ 778934 h 1638753"/>
              <a:gd name="connsiteX92" fmla="*/ 4936067 w 5240867"/>
              <a:gd name="connsiteY92" fmla="*/ 829734 h 1638753"/>
              <a:gd name="connsiteX93" fmla="*/ 4969933 w 5240867"/>
              <a:gd name="connsiteY93" fmla="*/ 855134 h 1638753"/>
              <a:gd name="connsiteX94" fmla="*/ 5003800 w 5240867"/>
              <a:gd name="connsiteY94" fmla="*/ 905934 h 1638753"/>
              <a:gd name="connsiteX95" fmla="*/ 5080000 w 5240867"/>
              <a:gd name="connsiteY95" fmla="*/ 973667 h 1638753"/>
              <a:gd name="connsiteX96" fmla="*/ 5105400 w 5240867"/>
              <a:gd name="connsiteY96" fmla="*/ 1016000 h 1638753"/>
              <a:gd name="connsiteX97" fmla="*/ 5113867 w 5240867"/>
              <a:gd name="connsiteY97" fmla="*/ 1041400 h 1638753"/>
              <a:gd name="connsiteX98" fmla="*/ 5156200 w 5240867"/>
              <a:gd name="connsiteY98" fmla="*/ 1092200 h 1638753"/>
              <a:gd name="connsiteX99" fmla="*/ 5181600 w 5240867"/>
              <a:gd name="connsiteY99" fmla="*/ 1134534 h 1638753"/>
              <a:gd name="connsiteX100" fmla="*/ 5198533 w 5240867"/>
              <a:gd name="connsiteY100" fmla="*/ 1193800 h 1638753"/>
              <a:gd name="connsiteX101" fmla="*/ 5215467 w 5240867"/>
              <a:gd name="connsiteY101" fmla="*/ 1227667 h 1638753"/>
              <a:gd name="connsiteX102" fmla="*/ 5223933 w 5240867"/>
              <a:gd name="connsiteY102" fmla="*/ 1253067 h 1638753"/>
              <a:gd name="connsiteX103" fmla="*/ 5240867 w 5240867"/>
              <a:gd name="connsiteY103" fmla="*/ 1278467 h 163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5240867" h="1638753">
                <a:moveTo>
                  <a:pt x="0" y="1625600"/>
                </a:moveTo>
                <a:cubicBezTo>
                  <a:pt x="122323" y="1640891"/>
                  <a:pt x="127955" y="1645250"/>
                  <a:pt x="304800" y="1625600"/>
                </a:cubicBezTo>
                <a:cubicBezTo>
                  <a:pt x="328765" y="1622937"/>
                  <a:pt x="348777" y="1604331"/>
                  <a:pt x="372533" y="1600200"/>
                </a:cubicBezTo>
                <a:cubicBezTo>
                  <a:pt x="414333" y="1592931"/>
                  <a:pt x="457200" y="1594556"/>
                  <a:pt x="499533" y="1591734"/>
                </a:cubicBezTo>
                <a:cubicBezTo>
                  <a:pt x="519289" y="1588912"/>
                  <a:pt x="539440" y="1588107"/>
                  <a:pt x="558800" y="1583267"/>
                </a:cubicBezTo>
                <a:cubicBezTo>
                  <a:pt x="573544" y="1579581"/>
                  <a:pt x="586389" y="1570020"/>
                  <a:pt x="601133" y="1566334"/>
                </a:cubicBezTo>
                <a:cubicBezTo>
                  <a:pt x="620493" y="1561494"/>
                  <a:pt x="640644" y="1560689"/>
                  <a:pt x="660400" y="1557867"/>
                </a:cubicBezTo>
                <a:cubicBezTo>
                  <a:pt x="677333" y="1546578"/>
                  <a:pt x="694919" y="1536211"/>
                  <a:pt x="711200" y="1524000"/>
                </a:cubicBezTo>
                <a:cubicBezTo>
                  <a:pt x="718871" y="1518247"/>
                  <a:pt x="758086" y="1487858"/>
                  <a:pt x="770467" y="1481667"/>
                </a:cubicBezTo>
                <a:cubicBezTo>
                  <a:pt x="819411" y="1457196"/>
                  <a:pt x="808346" y="1468546"/>
                  <a:pt x="863600" y="1456267"/>
                </a:cubicBezTo>
                <a:cubicBezTo>
                  <a:pt x="881431" y="1452304"/>
                  <a:pt x="918156" y="1435259"/>
                  <a:pt x="931333" y="1430867"/>
                </a:cubicBezTo>
                <a:cubicBezTo>
                  <a:pt x="950825" y="1424370"/>
                  <a:pt x="970920" y="1419838"/>
                  <a:pt x="990600" y="1413934"/>
                </a:cubicBezTo>
                <a:cubicBezTo>
                  <a:pt x="999148" y="1411370"/>
                  <a:pt x="1007249" y="1407217"/>
                  <a:pt x="1016000" y="1405467"/>
                </a:cubicBezTo>
                <a:cubicBezTo>
                  <a:pt x="1035569" y="1401553"/>
                  <a:pt x="1055511" y="1399822"/>
                  <a:pt x="1075267" y="1397000"/>
                </a:cubicBezTo>
                <a:cubicBezTo>
                  <a:pt x="1086556" y="1391356"/>
                  <a:pt x="1096704" y="1382260"/>
                  <a:pt x="1109133" y="1380067"/>
                </a:cubicBezTo>
                <a:cubicBezTo>
                  <a:pt x="1303607" y="1345748"/>
                  <a:pt x="1165977" y="1389339"/>
                  <a:pt x="1244600" y="1363134"/>
                </a:cubicBezTo>
                <a:cubicBezTo>
                  <a:pt x="1319305" y="1313328"/>
                  <a:pt x="1199911" y="1389710"/>
                  <a:pt x="1320800" y="1329267"/>
                </a:cubicBezTo>
                <a:cubicBezTo>
                  <a:pt x="1363769" y="1307783"/>
                  <a:pt x="1344165" y="1319335"/>
                  <a:pt x="1380067" y="1295400"/>
                </a:cubicBezTo>
                <a:cubicBezTo>
                  <a:pt x="1385711" y="1286933"/>
                  <a:pt x="1391086" y="1278280"/>
                  <a:pt x="1397000" y="1270000"/>
                </a:cubicBezTo>
                <a:cubicBezTo>
                  <a:pt x="1405202" y="1258517"/>
                  <a:pt x="1415399" y="1248386"/>
                  <a:pt x="1422400" y="1236134"/>
                </a:cubicBezTo>
                <a:cubicBezTo>
                  <a:pt x="1451712" y="1184840"/>
                  <a:pt x="1408170" y="1233432"/>
                  <a:pt x="1447800" y="1193800"/>
                </a:cubicBezTo>
                <a:cubicBezTo>
                  <a:pt x="1444978" y="1176867"/>
                  <a:pt x="1439333" y="1160167"/>
                  <a:pt x="1439333" y="1143000"/>
                </a:cubicBezTo>
                <a:cubicBezTo>
                  <a:pt x="1439333" y="1104085"/>
                  <a:pt x="1445840" y="1089613"/>
                  <a:pt x="1456267" y="1058334"/>
                </a:cubicBezTo>
                <a:cubicBezTo>
                  <a:pt x="1459089" y="1041401"/>
                  <a:pt x="1459304" y="1023820"/>
                  <a:pt x="1464733" y="1007534"/>
                </a:cubicBezTo>
                <a:cubicBezTo>
                  <a:pt x="1467951" y="997880"/>
                  <a:pt x="1476794" y="991067"/>
                  <a:pt x="1481667" y="982134"/>
                </a:cubicBezTo>
                <a:cubicBezTo>
                  <a:pt x="1493755" y="959973"/>
                  <a:pt x="1504244" y="936978"/>
                  <a:pt x="1515533" y="914400"/>
                </a:cubicBezTo>
                <a:lnTo>
                  <a:pt x="1515533" y="914400"/>
                </a:lnTo>
                <a:cubicBezTo>
                  <a:pt x="1525936" y="872790"/>
                  <a:pt x="1515772" y="888762"/>
                  <a:pt x="1540933" y="863600"/>
                </a:cubicBezTo>
                <a:cubicBezTo>
                  <a:pt x="1567471" y="757456"/>
                  <a:pt x="1526074" y="890763"/>
                  <a:pt x="1574800" y="812800"/>
                </a:cubicBezTo>
                <a:cubicBezTo>
                  <a:pt x="1584260" y="797664"/>
                  <a:pt x="1579112" y="774621"/>
                  <a:pt x="1591733" y="762000"/>
                </a:cubicBezTo>
                <a:cubicBezTo>
                  <a:pt x="1600200" y="753533"/>
                  <a:pt x="1610173" y="746343"/>
                  <a:pt x="1617133" y="736600"/>
                </a:cubicBezTo>
                <a:cubicBezTo>
                  <a:pt x="1679070" y="649890"/>
                  <a:pt x="1601076" y="746430"/>
                  <a:pt x="1642533" y="677334"/>
                </a:cubicBezTo>
                <a:cubicBezTo>
                  <a:pt x="1646640" y="670489"/>
                  <a:pt x="1654480" y="666634"/>
                  <a:pt x="1659467" y="660400"/>
                </a:cubicBezTo>
                <a:cubicBezTo>
                  <a:pt x="1696608" y="613973"/>
                  <a:pt x="1651090" y="653982"/>
                  <a:pt x="1710267" y="609600"/>
                </a:cubicBezTo>
                <a:cubicBezTo>
                  <a:pt x="1715911" y="601133"/>
                  <a:pt x="1719542" y="590901"/>
                  <a:pt x="1727200" y="584200"/>
                </a:cubicBezTo>
                <a:cubicBezTo>
                  <a:pt x="1742516" y="570799"/>
                  <a:pt x="1761719" y="562545"/>
                  <a:pt x="1778000" y="550334"/>
                </a:cubicBezTo>
                <a:lnTo>
                  <a:pt x="1811867" y="524934"/>
                </a:lnTo>
                <a:cubicBezTo>
                  <a:pt x="1817511" y="516467"/>
                  <a:pt x="1820983" y="506048"/>
                  <a:pt x="1828800" y="499534"/>
                </a:cubicBezTo>
                <a:cubicBezTo>
                  <a:pt x="1838496" y="491454"/>
                  <a:pt x="1851708" y="488862"/>
                  <a:pt x="1862667" y="482600"/>
                </a:cubicBezTo>
                <a:cubicBezTo>
                  <a:pt x="1871502" y="477551"/>
                  <a:pt x="1880250" y="472181"/>
                  <a:pt x="1888067" y="465667"/>
                </a:cubicBezTo>
                <a:cubicBezTo>
                  <a:pt x="1913690" y="444314"/>
                  <a:pt x="1927584" y="415570"/>
                  <a:pt x="1964267" y="406400"/>
                </a:cubicBezTo>
                <a:lnTo>
                  <a:pt x="1998133" y="397934"/>
                </a:lnTo>
                <a:cubicBezTo>
                  <a:pt x="2006600" y="392289"/>
                  <a:pt x="2014431" y="385551"/>
                  <a:pt x="2023533" y="381000"/>
                </a:cubicBezTo>
                <a:cubicBezTo>
                  <a:pt x="2047752" y="368891"/>
                  <a:pt x="2073729" y="370568"/>
                  <a:pt x="2099733" y="364067"/>
                </a:cubicBezTo>
                <a:cubicBezTo>
                  <a:pt x="2117049" y="359738"/>
                  <a:pt x="2133030" y="350635"/>
                  <a:pt x="2150533" y="347134"/>
                </a:cubicBezTo>
                <a:lnTo>
                  <a:pt x="2192867" y="338667"/>
                </a:lnTo>
                <a:cubicBezTo>
                  <a:pt x="2209546" y="330328"/>
                  <a:pt x="2232558" y="316826"/>
                  <a:pt x="2252133" y="313267"/>
                </a:cubicBezTo>
                <a:cubicBezTo>
                  <a:pt x="2274520" y="309197"/>
                  <a:pt x="2297289" y="307622"/>
                  <a:pt x="2319867" y="304800"/>
                </a:cubicBezTo>
                <a:cubicBezTo>
                  <a:pt x="2340571" y="294448"/>
                  <a:pt x="2356711" y="284383"/>
                  <a:pt x="2379133" y="279400"/>
                </a:cubicBezTo>
                <a:cubicBezTo>
                  <a:pt x="2395891" y="275676"/>
                  <a:pt x="2413000" y="273756"/>
                  <a:pt x="2429933" y="270934"/>
                </a:cubicBezTo>
                <a:cubicBezTo>
                  <a:pt x="2438400" y="265289"/>
                  <a:pt x="2446034" y="258133"/>
                  <a:pt x="2455333" y="254000"/>
                </a:cubicBezTo>
                <a:cubicBezTo>
                  <a:pt x="2471644" y="246751"/>
                  <a:pt x="2489560" y="243696"/>
                  <a:pt x="2506133" y="237067"/>
                </a:cubicBezTo>
                <a:lnTo>
                  <a:pt x="2548467" y="220134"/>
                </a:lnTo>
                <a:cubicBezTo>
                  <a:pt x="2562578" y="208845"/>
                  <a:pt x="2574637" y="194349"/>
                  <a:pt x="2590800" y="186267"/>
                </a:cubicBezTo>
                <a:cubicBezTo>
                  <a:pt x="2603671" y="179831"/>
                  <a:pt x="2619172" y="181290"/>
                  <a:pt x="2633133" y="177800"/>
                </a:cubicBezTo>
                <a:cubicBezTo>
                  <a:pt x="2641791" y="175636"/>
                  <a:pt x="2650378" y="172959"/>
                  <a:pt x="2658533" y="169334"/>
                </a:cubicBezTo>
                <a:cubicBezTo>
                  <a:pt x="2675833" y="161645"/>
                  <a:pt x="2692033" y="151623"/>
                  <a:pt x="2709333" y="143934"/>
                </a:cubicBezTo>
                <a:cubicBezTo>
                  <a:pt x="2736535" y="131844"/>
                  <a:pt x="2745089" y="135721"/>
                  <a:pt x="2777067" y="127000"/>
                </a:cubicBezTo>
                <a:cubicBezTo>
                  <a:pt x="2882488" y="98249"/>
                  <a:pt x="2773391" y="119147"/>
                  <a:pt x="2878667" y="101600"/>
                </a:cubicBezTo>
                <a:cubicBezTo>
                  <a:pt x="2920479" y="73726"/>
                  <a:pt x="2887813" y="90847"/>
                  <a:pt x="2946400" y="76200"/>
                </a:cubicBezTo>
                <a:cubicBezTo>
                  <a:pt x="2966333" y="71217"/>
                  <a:pt x="2985667" y="63973"/>
                  <a:pt x="3005667" y="59267"/>
                </a:cubicBezTo>
                <a:cubicBezTo>
                  <a:pt x="3033683" y="52675"/>
                  <a:pt x="3090333" y="42334"/>
                  <a:pt x="3090333" y="42334"/>
                </a:cubicBezTo>
                <a:cubicBezTo>
                  <a:pt x="3098800" y="36689"/>
                  <a:pt x="3106631" y="29951"/>
                  <a:pt x="3115733" y="25400"/>
                </a:cubicBezTo>
                <a:cubicBezTo>
                  <a:pt x="3142041" y="12246"/>
                  <a:pt x="3184998" y="11650"/>
                  <a:pt x="3208867" y="8467"/>
                </a:cubicBezTo>
                <a:lnTo>
                  <a:pt x="3268133" y="0"/>
                </a:lnTo>
                <a:lnTo>
                  <a:pt x="3843867" y="8467"/>
                </a:lnTo>
                <a:cubicBezTo>
                  <a:pt x="3861028" y="8931"/>
                  <a:pt x="3878105" y="12417"/>
                  <a:pt x="3894667" y="16934"/>
                </a:cubicBezTo>
                <a:cubicBezTo>
                  <a:pt x="3909329" y="20933"/>
                  <a:pt x="3922770" y="28531"/>
                  <a:pt x="3937000" y="33867"/>
                </a:cubicBezTo>
                <a:cubicBezTo>
                  <a:pt x="3945356" y="37001"/>
                  <a:pt x="3953790" y="39986"/>
                  <a:pt x="3962400" y="42334"/>
                </a:cubicBezTo>
                <a:cubicBezTo>
                  <a:pt x="3984852" y="48457"/>
                  <a:pt x="4008055" y="51908"/>
                  <a:pt x="4030133" y="59267"/>
                </a:cubicBezTo>
                <a:cubicBezTo>
                  <a:pt x="4097219" y="81629"/>
                  <a:pt x="4063327" y="73265"/>
                  <a:pt x="4131733" y="84667"/>
                </a:cubicBezTo>
                <a:cubicBezTo>
                  <a:pt x="4169991" y="122923"/>
                  <a:pt x="4121636" y="79618"/>
                  <a:pt x="4199467" y="118534"/>
                </a:cubicBezTo>
                <a:cubicBezTo>
                  <a:pt x="4210756" y="124178"/>
                  <a:pt x="4222630" y="128778"/>
                  <a:pt x="4233333" y="135467"/>
                </a:cubicBezTo>
                <a:cubicBezTo>
                  <a:pt x="4281802" y="165760"/>
                  <a:pt x="4250799" y="153914"/>
                  <a:pt x="4292600" y="177800"/>
                </a:cubicBezTo>
                <a:cubicBezTo>
                  <a:pt x="4303559" y="184062"/>
                  <a:pt x="4315764" y="188044"/>
                  <a:pt x="4326467" y="194734"/>
                </a:cubicBezTo>
                <a:cubicBezTo>
                  <a:pt x="4338433" y="202213"/>
                  <a:pt x="4348850" y="211932"/>
                  <a:pt x="4360333" y="220134"/>
                </a:cubicBezTo>
                <a:cubicBezTo>
                  <a:pt x="4368613" y="226048"/>
                  <a:pt x="4377787" y="230710"/>
                  <a:pt x="4385733" y="237067"/>
                </a:cubicBezTo>
                <a:cubicBezTo>
                  <a:pt x="4391966" y="242054"/>
                  <a:pt x="4396281" y="249211"/>
                  <a:pt x="4402667" y="254000"/>
                </a:cubicBezTo>
                <a:cubicBezTo>
                  <a:pt x="4418948" y="266211"/>
                  <a:pt x="4453467" y="287867"/>
                  <a:pt x="4453467" y="287867"/>
                </a:cubicBezTo>
                <a:cubicBezTo>
                  <a:pt x="4474467" y="350872"/>
                  <a:pt x="4442231" y="266779"/>
                  <a:pt x="4495800" y="347134"/>
                </a:cubicBezTo>
                <a:cubicBezTo>
                  <a:pt x="4506911" y="363800"/>
                  <a:pt x="4513579" y="377401"/>
                  <a:pt x="4529667" y="389467"/>
                </a:cubicBezTo>
                <a:cubicBezTo>
                  <a:pt x="4545948" y="401678"/>
                  <a:pt x="4563534" y="412045"/>
                  <a:pt x="4580467" y="423334"/>
                </a:cubicBezTo>
                <a:cubicBezTo>
                  <a:pt x="4588934" y="428978"/>
                  <a:pt x="4598672" y="433072"/>
                  <a:pt x="4605867" y="440267"/>
                </a:cubicBezTo>
                <a:lnTo>
                  <a:pt x="4682067" y="516467"/>
                </a:lnTo>
                <a:lnTo>
                  <a:pt x="4715933" y="550334"/>
                </a:lnTo>
                <a:cubicBezTo>
                  <a:pt x="4732417" y="599783"/>
                  <a:pt x="4711503" y="554370"/>
                  <a:pt x="4749800" y="592667"/>
                </a:cubicBezTo>
                <a:cubicBezTo>
                  <a:pt x="4806244" y="649111"/>
                  <a:pt x="4724400" y="589845"/>
                  <a:pt x="4792133" y="635000"/>
                </a:cubicBezTo>
                <a:cubicBezTo>
                  <a:pt x="4797778" y="643467"/>
                  <a:pt x="4802710" y="652454"/>
                  <a:pt x="4809067" y="660400"/>
                </a:cubicBezTo>
                <a:cubicBezTo>
                  <a:pt x="4814054" y="666633"/>
                  <a:pt x="4821893" y="670489"/>
                  <a:pt x="4826000" y="677334"/>
                </a:cubicBezTo>
                <a:cubicBezTo>
                  <a:pt x="4830592" y="684987"/>
                  <a:pt x="4828754" y="695878"/>
                  <a:pt x="4834467" y="702734"/>
                </a:cubicBezTo>
                <a:cubicBezTo>
                  <a:pt x="4843501" y="713574"/>
                  <a:pt x="4857044" y="719667"/>
                  <a:pt x="4868333" y="728134"/>
                </a:cubicBezTo>
                <a:cubicBezTo>
                  <a:pt x="4884526" y="776711"/>
                  <a:pt x="4865204" y="731368"/>
                  <a:pt x="4902200" y="778934"/>
                </a:cubicBezTo>
                <a:cubicBezTo>
                  <a:pt x="4914695" y="794998"/>
                  <a:pt x="4919786" y="817523"/>
                  <a:pt x="4936067" y="829734"/>
                </a:cubicBezTo>
                <a:cubicBezTo>
                  <a:pt x="4947356" y="838201"/>
                  <a:pt x="4960558" y="844587"/>
                  <a:pt x="4969933" y="855134"/>
                </a:cubicBezTo>
                <a:cubicBezTo>
                  <a:pt x="4983454" y="870345"/>
                  <a:pt x="4990771" y="890300"/>
                  <a:pt x="5003800" y="905934"/>
                </a:cubicBezTo>
                <a:cubicBezTo>
                  <a:pt x="5040048" y="949431"/>
                  <a:pt x="5043915" y="949611"/>
                  <a:pt x="5080000" y="973667"/>
                </a:cubicBezTo>
                <a:cubicBezTo>
                  <a:pt x="5088467" y="987778"/>
                  <a:pt x="5098041" y="1001281"/>
                  <a:pt x="5105400" y="1016000"/>
                </a:cubicBezTo>
                <a:cubicBezTo>
                  <a:pt x="5109391" y="1023982"/>
                  <a:pt x="5109876" y="1033418"/>
                  <a:pt x="5113867" y="1041400"/>
                </a:cubicBezTo>
                <a:cubicBezTo>
                  <a:pt x="5125655" y="1064976"/>
                  <a:pt x="5137474" y="1073474"/>
                  <a:pt x="5156200" y="1092200"/>
                </a:cubicBezTo>
                <a:cubicBezTo>
                  <a:pt x="5180186" y="1164154"/>
                  <a:pt x="5146734" y="1076423"/>
                  <a:pt x="5181600" y="1134534"/>
                </a:cubicBezTo>
                <a:cubicBezTo>
                  <a:pt x="5188426" y="1145911"/>
                  <a:pt x="5194840" y="1183952"/>
                  <a:pt x="5198533" y="1193800"/>
                </a:cubicBezTo>
                <a:cubicBezTo>
                  <a:pt x="5202965" y="1205618"/>
                  <a:pt x="5210495" y="1216066"/>
                  <a:pt x="5215467" y="1227667"/>
                </a:cubicBezTo>
                <a:cubicBezTo>
                  <a:pt x="5218983" y="1235870"/>
                  <a:pt x="5219942" y="1245085"/>
                  <a:pt x="5223933" y="1253067"/>
                </a:cubicBezTo>
                <a:cubicBezTo>
                  <a:pt x="5228484" y="1262169"/>
                  <a:pt x="5240867" y="1278467"/>
                  <a:pt x="5240867" y="1278467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26B4B687-B4F7-4A16-A24A-3DAB11C862F9}"/>
              </a:ext>
            </a:extLst>
          </p:cNvPr>
          <p:cNvSpPr/>
          <p:nvPr/>
        </p:nvSpPr>
        <p:spPr>
          <a:xfrm>
            <a:off x="4284133" y="4690533"/>
            <a:ext cx="4013200" cy="1337734"/>
          </a:xfrm>
          <a:custGeom>
            <a:avLst/>
            <a:gdLst>
              <a:gd name="connsiteX0" fmla="*/ 0 w 4013200"/>
              <a:gd name="connsiteY0" fmla="*/ 59267 h 1337734"/>
              <a:gd name="connsiteX1" fmla="*/ 25400 w 4013200"/>
              <a:gd name="connsiteY1" fmla="*/ 177800 h 1337734"/>
              <a:gd name="connsiteX2" fmla="*/ 67734 w 4013200"/>
              <a:gd name="connsiteY2" fmla="*/ 262467 h 1337734"/>
              <a:gd name="connsiteX3" fmla="*/ 93134 w 4013200"/>
              <a:gd name="connsiteY3" fmla="*/ 313267 h 1337734"/>
              <a:gd name="connsiteX4" fmla="*/ 127000 w 4013200"/>
              <a:gd name="connsiteY4" fmla="*/ 397934 h 1337734"/>
              <a:gd name="connsiteX5" fmla="*/ 135467 w 4013200"/>
              <a:gd name="connsiteY5" fmla="*/ 431800 h 1337734"/>
              <a:gd name="connsiteX6" fmla="*/ 160867 w 4013200"/>
              <a:gd name="connsiteY6" fmla="*/ 457200 h 1337734"/>
              <a:gd name="connsiteX7" fmla="*/ 186267 w 4013200"/>
              <a:gd name="connsiteY7" fmla="*/ 508000 h 1337734"/>
              <a:gd name="connsiteX8" fmla="*/ 220134 w 4013200"/>
              <a:gd name="connsiteY8" fmla="*/ 558800 h 1337734"/>
              <a:gd name="connsiteX9" fmla="*/ 237067 w 4013200"/>
              <a:gd name="connsiteY9" fmla="*/ 575734 h 1337734"/>
              <a:gd name="connsiteX10" fmla="*/ 270934 w 4013200"/>
              <a:gd name="connsiteY10" fmla="*/ 635000 h 1337734"/>
              <a:gd name="connsiteX11" fmla="*/ 321734 w 4013200"/>
              <a:gd name="connsiteY11" fmla="*/ 668867 h 1337734"/>
              <a:gd name="connsiteX12" fmla="*/ 389467 w 4013200"/>
              <a:gd name="connsiteY12" fmla="*/ 719667 h 1337734"/>
              <a:gd name="connsiteX13" fmla="*/ 423334 w 4013200"/>
              <a:gd name="connsiteY13" fmla="*/ 736600 h 1337734"/>
              <a:gd name="connsiteX14" fmla="*/ 465667 w 4013200"/>
              <a:gd name="connsiteY14" fmla="*/ 753534 h 1337734"/>
              <a:gd name="connsiteX15" fmla="*/ 550334 w 4013200"/>
              <a:gd name="connsiteY15" fmla="*/ 795867 h 1337734"/>
              <a:gd name="connsiteX16" fmla="*/ 618067 w 4013200"/>
              <a:gd name="connsiteY16" fmla="*/ 829734 h 1337734"/>
              <a:gd name="connsiteX17" fmla="*/ 651934 w 4013200"/>
              <a:gd name="connsiteY17" fmla="*/ 846667 h 1337734"/>
              <a:gd name="connsiteX18" fmla="*/ 702734 w 4013200"/>
              <a:gd name="connsiteY18" fmla="*/ 863600 h 1337734"/>
              <a:gd name="connsiteX19" fmla="*/ 753534 w 4013200"/>
              <a:gd name="connsiteY19" fmla="*/ 889000 h 1337734"/>
              <a:gd name="connsiteX20" fmla="*/ 804334 w 4013200"/>
              <a:gd name="connsiteY20" fmla="*/ 922867 h 1337734"/>
              <a:gd name="connsiteX21" fmla="*/ 863600 w 4013200"/>
              <a:gd name="connsiteY21" fmla="*/ 948267 h 1337734"/>
              <a:gd name="connsiteX22" fmla="*/ 922867 w 4013200"/>
              <a:gd name="connsiteY22" fmla="*/ 990600 h 1337734"/>
              <a:gd name="connsiteX23" fmla="*/ 973667 w 4013200"/>
              <a:gd name="connsiteY23" fmla="*/ 1024467 h 1337734"/>
              <a:gd name="connsiteX24" fmla="*/ 1032934 w 4013200"/>
              <a:gd name="connsiteY24" fmla="*/ 1066800 h 1337734"/>
              <a:gd name="connsiteX25" fmla="*/ 1100667 w 4013200"/>
              <a:gd name="connsiteY25" fmla="*/ 1083734 h 1337734"/>
              <a:gd name="connsiteX26" fmla="*/ 1202267 w 4013200"/>
              <a:gd name="connsiteY26" fmla="*/ 1109134 h 1337734"/>
              <a:gd name="connsiteX27" fmla="*/ 1278467 w 4013200"/>
              <a:gd name="connsiteY27" fmla="*/ 1143000 h 1337734"/>
              <a:gd name="connsiteX28" fmla="*/ 1354667 w 4013200"/>
              <a:gd name="connsiteY28" fmla="*/ 1159934 h 1337734"/>
              <a:gd name="connsiteX29" fmla="*/ 1388534 w 4013200"/>
              <a:gd name="connsiteY29" fmla="*/ 1176867 h 1337734"/>
              <a:gd name="connsiteX30" fmla="*/ 1507067 w 4013200"/>
              <a:gd name="connsiteY30" fmla="*/ 1193800 h 1337734"/>
              <a:gd name="connsiteX31" fmla="*/ 1566334 w 4013200"/>
              <a:gd name="connsiteY31" fmla="*/ 1202267 h 1337734"/>
              <a:gd name="connsiteX32" fmla="*/ 1642534 w 4013200"/>
              <a:gd name="connsiteY32" fmla="*/ 1210734 h 1337734"/>
              <a:gd name="connsiteX33" fmla="*/ 1693334 w 4013200"/>
              <a:gd name="connsiteY33" fmla="*/ 1219200 h 1337734"/>
              <a:gd name="connsiteX34" fmla="*/ 1803400 w 4013200"/>
              <a:gd name="connsiteY34" fmla="*/ 1236134 h 1337734"/>
              <a:gd name="connsiteX35" fmla="*/ 1845734 w 4013200"/>
              <a:gd name="connsiteY35" fmla="*/ 1244600 h 1337734"/>
              <a:gd name="connsiteX36" fmla="*/ 1896534 w 4013200"/>
              <a:gd name="connsiteY36" fmla="*/ 1253067 h 1337734"/>
              <a:gd name="connsiteX37" fmla="*/ 2015067 w 4013200"/>
              <a:gd name="connsiteY37" fmla="*/ 1270000 h 1337734"/>
              <a:gd name="connsiteX38" fmla="*/ 2192867 w 4013200"/>
              <a:gd name="connsiteY38" fmla="*/ 1286934 h 1337734"/>
              <a:gd name="connsiteX39" fmla="*/ 2328334 w 4013200"/>
              <a:gd name="connsiteY39" fmla="*/ 1303867 h 1337734"/>
              <a:gd name="connsiteX40" fmla="*/ 2446867 w 4013200"/>
              <a:gd name="connsiteY40" fmla="*/ 1312334 h 1337734"/>
              <a:gd name="connsiteX41" fmla="*/ 2658534 w 4013200"/>
              <a:gd name="connsiteY41" fmla="*/ 1337734 h 1337734"/>
              <a:gd name="connsiteX42" fmla="*/ 2836334 w 4013200"/>
              <a:gd name="connsiteY42" fmla="*/ 1329267 h 1337734"/>
              <a:gd name="connsiteX43" fmla="*/ 2878667 w 4013200"/>
              <a:gd name="connsiteY43" fmla="*/ 1312334 h 1337734"/>
              <a:gd name="connsiteX44" fmla="*/ 2954867 w 4013200"/>
              <a:gd name="connsiteY44" fmla="*/ 1295400 h 1337734"/>
              <a:gd name="connsiteX45" fmla="*/ 3005667 w 4013200"/>
              <a:gd name="connsiteY45" fmla="*/ 1270000 h 1337734"/>
              <a:gd name="connsiteX46" fmla="*/ 3039534 w 4013200"/>
              <a:gd name="connsiteY46" fmla="*/ 1227667 h 1337734"/>
              <a:gd name="connsiteX47" fmla="*/ 3073400 w 4013200"/>
              <a:gd name="connsiteY47" fmla="*/ 1210734 h 1337734"/>
              <a:gd name="connsiteX48" fmla="*/ 3115734 w 4013200"/>
              <a:gd name="connsiteY48" fmla="*/ 1168400 h 1337734"/>
              <a:gd name="connsiteX49" fmla="*/ 3141134 w 4013200"/>
              <a:gd name="connsiteY49" fmla="*/ 1151467 h 1337734"/>
              <a:gd name="connsiteX50" fmla="*/ 3191934 w 4013200"/>
              <a:gd name="connsiteY50" fmla="*/ 1100667 h 1337734"/>
              <a:gd name="connsiteX51" fmla="*/ 3217334 w 4013200"/>
              <a:gd name="connsiteY51" fmla="*/ 1083734 h 1337734"/>
              <a:gd name="connsiteX52" fmla="*/ 3268134 w 4013200"/>
              <a:gd name="connsiteY52" fmla="*/ 1049867 h 1337734"/>
              <a:gd name="connsiteX53" fmla="*/ 3318934 w 4013200"/>
              <a:gd name="connsiteY53" fmla="*/ 1007534 h 1337734"/>
              <a:gd name="connsiteX54" fmla="*/ 3378200 w 4013200"/>
              <a:gd name="connsiteY54" fmla="*/ 965200 h 1337734"/>
              <a:gd name="connsiteX55" fmla="*/ 3412067 w 4013200"/>
              <a:gd name="connsiteY55" fmla="*/ 948267 h 1337734"/>
              <a:gd name="connsiteX56" fmla="*/ 3471334 w 4013200"/>
              <a:gd name="connsiteY56" fmla="*/ 914400 h 1337734"/>
              <a:gd name="connsiteX57" fmla="*/ 3505200 w 4013200"/>
              <a:gd name="connsiteY57" fmla="*/ 889000 h 1337734"/>
              <a:gd name="connsiteX58" fmla="*/ 3522134 w 4013200"/>
              <a:gd name="connsiteY58" fmla="*/ 872067 h 1337734"/>
              <a:gd name="connsiteX59" fmla="*/ 3564467 w 4013200"/>
              <a:gd name="connsiteY59" fmla="*/ 846667 h 1337734"/>
              <a:gd name="connsiteX60" fmla="*/ 3606800 w 4013200"/>
              <a:gd name="connsiteY60" fmla="*/ 795867 h 1337734"/>
              <a:gd name="connsiteX61" fmla="*/ 3623734 w 4013200"/>
              <a:gd name="connsiteY61" fmla="*/ 745067 h 1337734"/>
              <a:gd name="connsiteX62" fmla="*/ 3674534 w 4013200"/>
              <a:gd name="connsiteY62" fmla="*/ 677334 h 1337734"/>
              <a:gd name="connsiteX63" fmla="*/ 3708400 w 4013200"/>
              <a:gd name="connsiteY63" fmla="*/ 626534 h 1337734"/>
              <a:gd name="connsiteX64" fmla="*/ 3750734 w 4013200"/>
              <a:gd name="connsiteY64" fmla="*/ 584200 h 1337734"/>
              <a:gd name="connsiteX65" fmla="*/ 3767667 w 4013200"/>
              <a:gd name="connsiteY65" fmla="*/ 558800 h 1337734"/>
              <a:gd name="connsiteX66" fmla="*/ 3793067 w 4013200"/>
              <a:gd name="connsiteY66" fmla="*/ 533400 h 1337734"/>
              <a:gd name="connsiteX67" fmla="*/ 3826934 w 4013200"/>
              <a:gd name="connsiteY67" fmla="*/ 491067 h 1337734"/>
              <a:gd name="connsiteX68" fmla="*/ 3843867 w 4013200"/>
              <a:gd name="connsiteY68" fmla="*/ 465667 h 1337734"/>
              <a:gd name="connsiteX69" fmla="*/ 3894667 w 4013200"/>
              <a:gd name="connsiteY69" fmla="*/ 414867 h 1337734"/>
              <a:gd name="connsiteX70" fmla="*/ 3903134 w 4013200"/>
              <a:gd name="connsiteY70" fmla="*/ 389467 h 1337734"/>
              <a:gd name="connsiteX71" fmla="*/ 3928534 w 4013200"/>
              <a:gd name="connsiteY71" fmla="*/ 364067 h 1337734"/>
              <a:gd name="connsiteX72" fmla="*/ 3953934 w 4013200"/>
              <a:gd name="connsiteY72" fmla="*/ 330200 h 1337734"/>
              <a:gd name="connsiteX73" fmla="*/ 3962400 w 4013200"/>
              <a:gd name="connsiteY73" fmla="*/ 304800 h 1337734"/>
              <a:gd name="connsiteX74" fmla="*/ 3979334 w 4013200"/>
              <a:gd name="connsiteY74" fmla="*/ 287867 h 1337734"/>
              <a:gd name="connsiteX75" fmla="*/ 3996267 w 4013200"/>
              <a:gd name="connsiteY75" fmla="*/ 237067 h 1337734"/>
              <a:gd name="connsiteX76" fmla="*/ 4004734 w 4013200"/>
              <a:gd name="connsiteY76" fmla="*/ 211667 h 1337734"/>
              <a:gd name="connsiteX77" fmla="*/ 4013200 w 4013200"/>
              <a:gd name="connsiteY77" fmla="*/ 186267 h 1337734"/>
              <a:gd name="connsiteX78" fmla="*/ 4004734 w 4013200"/>
              <a:gd name="connsiteY78" fmla="*/ 0 h 1337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4013200" h="1337734">
                <a:moveTo>
                  <a:pt x="0" y="59267"/>
                </a:moveTo>
                <a:cubicBezTo>
                  <a:pt x="6836" y="113951"/>
                  <a:pt x="4288" y="129545"/>
                  <a:pt x="25400" y="177800"/>
                </a:cubicBezTo>
                <a:cubicBezTo>
                  <a:pt x="38047" y="206708"/>
                  <a:pt x="53623" y="234245"/>
                  <a:pt x="67734" y="262467"/>
                </a:cubicBezTo>
                <a:cubicBezTo>
                  <a:pt x="76201" y="279400"/>
                  <a:pt x="86103" y="295689"/>
                  <a:pt x="93134" y="313267"/>
                </a:cubicBezTo>
                <a:cubicBezTo>
                  <a:pt x="104423" y="341489"/>
                  <a:pt x="119627" y="368445"/>
                  <a:pt x="127000" y="397934"/>
                </a:cubicBezTo>
                <a:cubicBezTo>
                  <a:pt x="129822" y="409223"/>
                  <a:pt x="129694" y="421697"/>
                  <a:pt x="135467" y="431800"/>
                </a:cubicBezTo>
                <a:cubicBezTo>
                  <a:pt x="141408" y="442196"/>
                  <a:pt x="154225" y="447237"/>
                  <a:pt x="160867" y="457200"/>
                </a:cubicBezTo>
                <a:cubicBezTo>
                  <a:pt x="171369" y="472952"/>
                  <a:pt x="176728" y="491647"/>
                  <a:pt x="186267" y="508000"/>
                </a:cubicBezTo>
                <a:cubicBezTo>
                  <a:pt x="196522" y="525579"/>
                  <a:pt x="205744" y="544409"/>
                  <a:pt x="220134" y="558800"/>
                </a:cubicBezTo>
                <a:cubicBezTo>
                  <a:pt x="225778" y="564445"/>
                  <a:pt x="232639" y="569092"/>
                  <a:pt x="237067" y="575734"/>
                </a:cubicBezTo>
                <a:cubicBezTo>
                  <a:pt x="246053" y="589213"/>
                  <a:pt x="257075" y="622874"/>
                  <a:pt x="270934" y="635000"/>
                </a:cubicBezTo>
                <a:cubicBezTo>
                  <a:pt x="286250" y="648401"/>
                  <a:pt x="305453" y="656656"/>
                  <a:pt x="321734" y="668867"/>
                </a:cubicBezTo>
                <a:cubicBezTo>
                  <a:pt x="344312" y="685800"/>
                  <a:pt x="364224" y="707046"/>
                  <a:pt x="389467" y="719667"/>
                </a:cubicBezTo>
                <a:cubicBezTo>
                  <a:pt x="400756" y="725311"/>
                  <a:pt x="411800" y="731474"/>
                  <a:pt x="423334" y="736600"/>
                </a:cubicBezTo>
                <a:cubicBezTo>
                  <a:pt x="437222" y="742773"/>
                  <a:pt x="452325" y="746256"/>
                  <a:pt x="465667" y="753534"/>
                </a:cubicBezTo>
                <a:cubicBezTo>
                  <a:pt x="550960" y="800057"/>
                  <a:pt x="482537" y="778917"/>
                  <a:pt x="550334" y="795867"/>
                </a:cubicBezTo>
                <a:cubicBezTo>
                  <a:pt x="595312" y="825852"/>
                  <a:pt x="555933" y="802118"/>
                  <a:pt x="618067" y="829734"/>
                </a:cubicBezTo>
                <a:cubicBezTo>
                  <a:pt x="629601" y="834860"/>
                  <a:pt x="640215" y="841980"/>
                  <a:pt x="651934" y="846667"/>
                </a:cubicBezTo>
                <a:cubicBezTo>
                  <a:pt x="668507" y="853296"/>
                  <a:pt x="702734" y="863600"/>
                  <a:pt x="702734" y="863600"/>
                </a:cubicBezTo>
                <a:cubicBezTo>
                  <a:pt x="742167" y="903035"/>
                  <a:pt x="691119" y="857793"/>
                  <a:pt x="753534" y="889000"/>
                </a:cubicBezTo>
                <a:cubicBezTo>
                  <a:pt x="771737" y="898101"/>
                  <a:pt x="786131" y="913766"/>
                  <a:pt x="804334" y="922867"/>
                </a:cubicBezTo>
                <a:cubicBezTo>
                  <a:pt x="846182" y="943791"/>
                  <a:pt x="826227" y="935809"/>
                  <a:pt x="863600" y="948267"/>
                </a:cubicBezTo>
                <a:cubicBezTo>
                  <a:pt x="903778" y="988445"/>
                  <a:pt x="882321" y="977086"/>
                  <a:pt x="922867" y="990600"/>
                </a:cubicBezTo>
                <a:cubicBezTo>
                  <a:pt x="957368" y="1025103"/>
                  <a:pt x="918993" y="990297"/>
                  <a:pt x="973667" y="1024467"/>
                </a:cubicBezTo>
                <a:cubicBezTo>
                  <a:pt x="976049" y="1025956"/>
                  <a:pt x="1024367" y="1063685"/>
                  <a:pt x="1032934" y="1066800"/>
                </a:cubicBezTo>
                <a:cubicBezTo>
                  <a:pt x="1054805" y="1074753"/>
                  <a:pt x="1079851" y="1073326"/>
                  <a:pt x="1100667" y="1083734"/>
                </a:cubicBezTo>
                <a:cubicBezTo>
                  <a:pt x="1154885" y="1110842"/>
                  <a:pt x="1122010" y="1099101"/>
                  <a:pt x="1202267" y="1109134"/>
                </a:cubicBezTo>
                <a:cubicBezTo>
                  <a:pt x="1230397" y="1123199"/>
                  <a:pt x="1249556" y="1135772"/>
                  <a:pt x="1278467" y="1143000"/>
                </a:cubicBezTo>
                <a:cubicBezTo>
                  <a:pt x="1294560" y="1147023"/>
                  <a:pt x="1337284" y="1153415"/>
                  <a:pt x="1354667" y="1159934"/>
                </a:cubicBezTo>
                <a:cubicBezTo>
                  <a:pt x="1366485" y="1164366"/>
                  <a:pt x="1376213" y="1174129"/>
                  <a:pt x="1388534" y="1176867"/>
                </a:cubicBezTo>
                <a:cubicBezTo>
                  <a:pt x="1427496" y="1185525"/>
                  <a:pt x="1467556" y="1188156"/>
                  <a:pt x="1507067" y="1193800"/>
                </a:cubicBezTo>
                <a:cubicBezTo>
                  <a:pt x="1526823" y="1196622"/>
                  <a:pt x="1546500" y="1200063"/>
                  <a:pt x="1566334" y="1202267"/>
                </a:cubicBezTo>
                <a:cubicBezTo>
                  <a:pt x="1591734" y="1205089"/>
                  <a:pt x="1617202" y="1207356"/>
                  <a:pt x="1642534" y="1210734"/>
                </a:cubicBezTo>
                <a:cubicBezTo>
                  <a:pt x="1659550" y="1213003"/>
                  <a:pt x="1676401" y="1216378"/>
                  <a:pt x="1693334" y="1219200"/>
                </a:cubicBezTo>
                <a:cubicBezTo>
                  <a:pt x="1750546" y="1238271"/>
                  <a:pt x="1694267" y="1221583"/>
                  <a:pt x="1803400" y="1236134"/>
                </a:cubicBezTo>
                <a:cubicBezTo>
                  <a:pt x="1817665" y="1238036"/>
                  <a:pt x="1831575" y="1242026"/>
                  <a:pt x="1845734" y="1244600"/>
                </a:cubicBezTo>
                <a:cubicBezTo>
                  <a:pt x="1862624" y="1247671"/>
                  <a:pt x="1879557" y="1250520"/>
                  <a:pt x="1896534" y="1253067"/>
                </a:cubicBezTo>
                <a:lnTo>
                  <a:pt x="2015067" y="1270000"/>
                </a:lnTo>
                <a:cubicBezTo>
                  <a:pt x="2149482" y="1288329"/>
                  <a:pt x="2011324" y="1268154"/>
                  <a:pt x="2192867" y="1286934"/>
                </a:cubicBezTo>
                <a:cubicBezTo>
                  <a:pt x="2238133" y="1291617"/>
                  <a:pt x="2283053" y="1299339"/>
                  <a:pt x="2328334" y="1303867"/>
                </a:cubicBezTo>
                <a:cubicBezTo>
                  <a:pt x="2367749" y="1307809"/>
                  <a:pt x="2407404" y="1308903"/>
                  <a:pt x="2446867" y="1312334"/>
                </a:cubicBezTo>
                <a:cubicBezTo>
                  <a:pt x="2491234" y="1316192"/>
                  <a:pt x="2634930" y="1334783"/>
                  <a:pt x="2658534" y="1337734"/>
                </a:cubicBezTo>
                <a:cubicBezTo>
                  <a:pt x="2717801" y="1334912"/>
                  <a:pt x="2777391" y="1336068"/>
                  <a:pt x="2836334" y="1329267"/>
                </a:cubicBezTo>
                <a:cubicBezTo>
                  <a:pt x="2851432" y="1327525"/>
                  <a:pt x="2864005" y="1316333"/>
                  <a:pt x="2878667" y="1312334"/>
                </a:cubicBezTo>
                <a:cubicBezTo>
                  <a:pt x="2907286" y="1304529"/>
                  <a:pt x="2929289" y="1308189"/>
                  <a:pt x="2954867" y="1295400"/>
                </a:cubicBezTo>
                <a:cubicBezTo>
                  <a:pt x="3020519" y="1262574"/>
                  <a:pt x="2941823" y="1291282"/>
                  <a:pt x="3005667" y="1270000"/>
                </a:cubicBezTo>
                <a:cubicBezTo>
                  <a:pt x="3014727" y="1256410"/>
                  <a:pt x="3025055" y="1237320"/>
                  <a:pt x="3039534" y="1227667"/>
                </a:cubicBezTo>
                <a:cubicBezTo>
                  <a:pt x="3050035" y="1220666"/>
                  <a:pt x="3063438" y="1218483"/>
                  <a:pt x="3073400" y="1210734"/>
                </a:cubicBezTo>
                <a:cubicBezTo>
                  <a:pt x="3089153" y="1198482"/>
                  <a:pt x="3099129" y="1179470"/>
                  <a:pt x="3115734" y="1168400"/>
                </a:cubicBezTo>
                <a:cubicBezTo>
                  <a:pt x="3124201" y="1162756"/>
                  <a:pt x="3133529" y="1158227"/>
                  <a:pt x="3141134" y="1151467"/>
                </a:cubicBezTo>
                <a:cubicBezTo>
                  <a:pt x="3159033" y="1135557"/>
                  <a:pt x="3172008" y="1113950"/>
                  <a:pt x="3191934" y="1100667"/>
                </a:cubicBezTo>
                <a:cubicBezTo>
                  <a:pt x="3200401" y="1095023"/>
                  <a:pt x="3209517" y="1090248"/>
                  <a:pt x="3217334" y="1083734"/>
                </a:cubicBezTo>
                <a:cubicBezTo>
                  <a:pt x="3259616" y="1048499"/>
                  <a:pt x="3223496" y="1064747"/>
                  <a:pt x="3268134" y="1049867"/>
                </a:cubicBezTo>
                <a:cubicBezTo>
                  <a:pt x="3307667" y="1010334"/>
                  <a:pt x="3277675" y="1037004"/>
                  <a:pt x="3318934" y="1007534"/>
                </a:cubicBezTo>
                <a:cubicBezTo>
                  <a:pt x="3337101" y="994557"/>
                  <a:pt x="3358250" y="976600"/>
                  <a:pt x="3378200" y="965200"/>
                </a:cubicBezTo>
                <a:cubicBezTo>
                  <a:pt x="3389158" y="958938"/>
                  <a:pt x="3401364" y="954956"/>
                  <a:pt x="3412067" y="948267"/>
                </a:cubicBezTo>
                <a:cubicBezTo>
                  <a:pt x="3470650" y="911653"/>
                  <a:pt x="3421431" y="931035"/>
                  <a:pt x="3471334" y="914400"/>
                </a:cubicBezTo>
                <a:cubicBezTo>
                  <a:pt x="3482623" y="905933"/>
                  <a:pt x="3494360" y="898034"/>
                  <a:pt x="3505200" y="889000"/>
                </a:cubicBezTo>
                <a:cubicBezTo>
                  <a:pt x="3511332" y="883890"/>
                  <a:pt x="3515638" y="876707"/>
                  <a:pt x="3522134" y="872067"/>
                </a:cubicBezTo>
                <a:cubicBezTo>
                  <a:pt x="3535525" y="862502"/>
                  <a:pt x="3550356" y="855134"/>
                  <a:pt x="3564467" y="846667"/>
                </a:cubicBezTo>
                <a:cubicBezTo>
                  <a:pt x="3590365" y="768977"/>
                  <a:pt x="3545290" y="888132"/>
                  <a:pt x="3606800" y="795867"/>
                </a:cubicBezTo>
                <a:cubicBezTo>
                  <a:pt x="3616701" y="781015"/>
                  <a:pt x="3613833" y="759919"/>
                  <a:pt x="3623734" y="745067"/>
                </a:cubicBezTo>
                <a:cubicBezTo>
                  <a:pt x="3673340" y="670657"/>
                  <a:pt x="3594088" y="787948"/>
                  <a:pt x="3674534" y="677334"/>
                </a:cubicBezTo>
                <a:cubicBezTo>
                  <a:pt x="3686504" y="660875"/>
                  <a:pt x="3694010" y="640924"/>
                  <a:pt x="3708400" y="626534"/>
                </a:cubicBezTo>
                <a:cubicBezTo>
                  <a:pt x="3722511" y="612423"/>
                  <a:pt x="3739664" y="600805"/>
                  <a:pt x="3750734" y="584200"/>
                </a:cubicBezTo>
                <a:cubicBezTo>
                  <a:pt x="3756378" y="575733"/>
                  <a:pt x="3761153" y="566617"/>
                  <a:pt x="3767667" y="558800"/>
                </a:cubicBezTo>
                <a:cubicBezTo>
                  <a:pt x="3775332" y="549602"/>
                  <a:pt x="3785182" y="542411"/>
                  <a:pt x="3793067" y="533400"/>
                </a:cubicBezTo>
                <a:cubicBezTo>
                  <a:pt x="3804967" y="519800"/>
                  <a:pt x="3816091" y="505524"/>
                  <a:pt x="3826934" y="491067"/>
                </a:cubicBezTo>
                <a:cubicBezTo>
                  <a:pt x="3833039" y="482927"/>
                  <a:pt x="3837107" y="473272"/>
                  <a:pt x="3843867" y="465667"/>
                </a:cubicBezTo>
                <a:cubicBezTo>
                  <a:pt x="3859777" y="447768"/>
                  <a:pt x="3894667" y="414867"/>
                  <a:pt x="3894667" y="414867"/>
                </a:cubicBezTo>
                <a:cubicBezTo>
                  <a:pt x="3897489" y="406400"/>
                  <a:pt x="3898183" y="396893"/>
                  <a:pt x="3903134" y="389467"/>
                </a:cubicBezTo>
                <a:cubicBezTo>
                  <a:pt x="3909776" y="379504"/>
                  <a:pt x="3920742" y="373158"/>
                  <a:pt x="3928534" y="364067"/>
                </a:cubicBezTo>
                <a:cubicBezTo>
                  <a:pt x="3937717" y="353353"/>
                  <a:pt x="3945467" y="341489"/>
                  <a:pt x="3953934" y="330200"/>
                </a:cubicBezTo>
                <a:cubicBezTo>
                  <a:pt x="3956756" y="321733"/>
                  <a:pt x="3957808" y="312453"/>
                  <a:pt x="3962400" y="304800"/>
                </a:cubicBezTo>
                <a:cubicBezTo>
                  <a:pt x="3966507" y="297955"/>
                  <a:pt x="3975764" y="295007"/>
                  <a:pt x="3979334" y="287867"/>
                </a:cubicBezTo>
                <a:cubicBezTo>
                  <a:pt x="3987317" y="271902"/>
                  <a:pt x="3990623" y="254000"/>
                  <a:pt x="3996267" y="237067"/>
                </a:cubicBezTo>
                <a:lnTo>
                  <a:pt x="4004734" y="211667"/>
                </a:lnTo>
                <a:lnTo>
                  <a:pt x="4013200" y="186267"/>
                </a:lnTo>
                <a:cubicBezTo>
                  <a:pt x="4003126" y="45213"/>
                  <a:pt x="4004734" y="107346"/>
                  <a:pt x="4004734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E8186E26-1825-4777-ABA2-46212B0ECF1D}"/>
              </a:ext>
            </a:extLst>
          </p:cNvPr>
          <p:cNvSpPr/>
          <p:nvPr/>
        </p:nvSpPr>
        <p:spPr>
          <a:xfrm>
            <a:off x="5545667" y="2192867"/>
            <a:ext cx="749712" cy="1574800"/>
          </a:xfrm>
          <a:custGeom>
            <a:avLst/>
            <a:gdLst>
              <a:gd name="connsiteX0" fmla="*/ 685800 w 749712"/>
              <a:gd name="connsiteY0" fmla="*/ 0 h 1574800"/>
              <a:gd name="connsiteX1" fmla="*/ 694266 w 749712"/>
              <a:gd name="connsiteY1" fmla="*/ 719666 h 1574800"/>
              <a:gd name="connsiteX2" fmla="*/ 702733 w 749712"/>
              <a:gd name="connsiteY2" fmla="*/ 745066 h 1574800"/>
              <a:gd name="connsiteX3" fmla="*/ 719666 w 749712"/>
              <a:gd name="connsiteY3" fmla="*/ 897466 h 1574800"/>
              <a:gd name="connsiteX4" fmla="*/ 736600 w 749712"/>
              <a:gd name="connsiteY4" fmla="*/ 1109133 h 1574800"/>
              <a:gd name="connsiteX5" fmla="*/ 745066 w 749712"/>
              <a:gd name="connsiteY5" fmla="*/ 1397000 h 1574800"/>
              <a:gd name="connsiteX6" fmla="*/ 694266 w 749712"/>
              <a:gd name="connsiteY6" fmla="*/ 1413933 h 1574800"/>
              <a:gd name="connsiteX7" fmla="*/ 668866 w 749712"/>
              <a:gd name="connsiteY7" fmla="*/ 1430866 h 1574800"/>
              <a:gd name="connsiteX8" fmla="*/ 618066 w 749712"/>
              <a:gd name="connsiteY8" fmla="*/ 1447800 h 1574800"/>
              <a:gd name="connsiteX9" fmla="*/ 592666 w 749712"/>
              <a:gd name="connsiteY9" fmla="*/ 1464733 h 1574800"/>
              <a:gd name="connsiteX10" fmla="*/ 508000 w 749712"/>
              <a:gd name="connsiteY10" fmla="*/ 1490133 h 1574800"/>
              <a:gd name="connsiteX11" fmla="*/ 482600 w 749712"/>
              <a:gd name="connsiteY11" fmla="*/ 1507066 h 1574800"/>
              <a:gd name="connsiteX12" fmla="*/ 389466 w 749712"/>
              <a:gd name="connsiteY12" fmla="*/ 1524000 h 1574800"/>
              <a:gd name="connsiteX13" fmla="*/ 228600 w 749712"/>
              <a:gd name="connsiteY13" fmla="*/ 1549400 h 1574800"/>
              <a:gd name="connsiteX14" fmla="*/ 59266 w 749712"/>
              <a:gd name="connsiteY14" fmla="*/ 1557866 h 1574800"/>
              <a:gd name="connsiteX15" fmla="*/ 0 w 749712"/>
              <a:gd name="connsiteY15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12" h="1574800">
                <a:moveTo>
                  <a:pt x="685800" y="0"/>
                </a:moveTo>
                <a:cubicBezTo>
                  <a:pt x="688622" y="239889"/>
                  <a:pt x="688815" y="479823"/>
                  <a:pt x="694266" y="719666"/>
                </a:cubicBezTo>
                <a:cubicBezTo>
                  <a:pt x="694469" y="728588"/>
                  <a:pt x="701471" y="736231"/>
                  <a:pt x="702733" y="745066"/>
                </a:cubicBezTo>
                <a:cubicBezTo>
                  <a:pt x="709961" y="795665"/>
                  <a:pt x="716266" y="846467"/>
                  <a:pt x="719666" y="897466"/>
                </a:cubicBezTo>
                <a:cubicBezTo>
                  <a:pt x="730020" y="1052766"/>
                  <a:pt x="723911" y="982249"/>
                  <a:pt x="736600" y="1109133"/>
                </a:cubicBezTo>
                <a:cubicBezTo>
                  <a:pt x="739422" y="1205089"/>
                  <a:pt x="758272" y="1301916"/>
                  <a:pt x="745066" y="1397000"/>
                </a:cubicBezTo>
                <a:cubicBezTo>
                  <a:pt x="742610" y="1414680"/>
                  <a:pt x="709118" y="1404032"/>
                  <a:pt x="694266" y="1413933"/>
                </a:cubicBezTo>
                <a:cubicBezTo>
                  <a:pt x="685799" y="1419577"/>
                  <a:pt x="678165" y="1426733"/>
                  <a:pt x="668866" y="1430866"/>
                </a:cubicBezTo>
                <a:cubicBezTo>
                  <a:pt x="652555" y="1438115"/>
                  <a:pt x="632918" y="1437899"/>
                  <a:pt x="618066" y="1447800"/>
                </a:cubicBezTo>
                <a:cubicBezTo>
                  <a:pt x="609599" y="1453444"/>
                  <a:pt x="602019" y="1460725"/>
                  <a:pt x="592666" y="1464733"/>
                </a:cubicBezTo>
                <a:cubicBezTo>
                  <a:pt x="559538" y="1478931"/>
                  <a:pt x="542144" y="1467371"/>
                  <a:pt x="508000" y="1490133"/>
                </a:cubicBezTo>
                <a:cubicBezTo>
                  <a:pt x="499533" y="1495777"/>
                  <a:pt x="491953" y="1503058"/>
                  <a:pt x="482600" y="1507066"/>
                </a:cubicBezTo>
                <a:cubicBezTo>
                  <a:pt x="462639" y="1515621"/>
                  <a:pt x="403202" y="1522038"/>
                  <a:pt x="389466" y="1524000"/>
                </a:cubicBezTo>
                <a:cubicBezTo>
                  <a:pt x="312250" y="1554886"/>
                  <a:pt x="357351" y="1541827"/>
                  <a:pt x="228600" y="1549400"/>
                </a:cubicBezTo>
                <a:lnTo>
                  <a:pt x="59266" y="1557866"/>
                </a:lnTo>
                <a:cubicBezTo>
                  <a:pt x="10745" y="1567571"/>
                  <a:pt x="29804" y="1559897"/>
                  <a:pt x="0" y="157480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CB87C233-BF54-47D9-A954-60A44F27C9BA}"/>
              </a:ext>
            </a:extLst>
          </p:cNvPr>
          <p:cNvSpPr/>
          <p:nvPr/>
        </p:nvSpPr>
        <p:spPr>
          <a:xfrm>
            <a:off x="6307667" y="3597604"/>
            <a:ext cx="668866" cy="119263"/>
          </a:xfrm>
          <a:custGeom>
            <a:avLst/>
            <a:gdLst>
              <a:gd name="connsiteX0" fmla="*/ 668866 w 668866"/>
              <a:gd name="connsiteY0" fmla="*/ 119263 h 119263"/>
              <a:gd name="connsiteX1" fmla="*/ 618066 w 668866"/>
              <a:gd name="connsiteY1" fmla="*/ 110796 h 119263"/>
              <a:gd name="connsiteX2" fmla="*/ 584200 w 668866"/>
              <a:gd name="connsiteY2" fmla="*/ 102329 h 119263"/>
              <a:gd name="connsiteX3" fmla="*/ 524933 w 668866"/>
              <a:gd name="connsiteY3" fmla="*/ 93863 h 119263"/>
              <a:gd name="connsiteX4" fmla="*/ 330200 w 668866"/>
              <a:gd name="connsiteY4" fmla="*/ 68463 h 119263"/>
              <a:gd name="connsiteX5" fmla="*/ 296333 w 668866"/>
              <a:gd name="connsiteY5" fmla="*/ 59996 h 119263"/>
              <a:gd name="connsiteX6" fmla="*/ 254000 w 668866"/>
              <a:gd name="connsiteY6" fmla="*/ 43063 h 119263"/>
              <a:gd name="connsiteX7" fmla="*/ 211666 w 668866"/>
              <a:gd name="connsiteY7" fmla="*/ 34596 h 119263"/>
              <a:gd name="connsiteX8" fmla="*/ 160866 w 668866"/>
              <a:gd name="connsiteY8" fmla="*/ 17663 h 119263"/>
              <a:gd name="connsiteX9" fmla="*/ 101600 w 668866"/>
              <a:gd name="connsiteY9" fmla="*/ 9196 h 119263"/>
              <a:gd name="connsiteX10" fmla="*/ 59266 w 668866"/>
              <a:gd name="connsiteY10" fmla="*/ 729 h 119263"/>
              <a:gd name="connsiteX11" fmla="*/ 0 w 668866"/>
              <a:gd name="connsiteY11" fmla="*/ 729 h 1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8866" h="119263">
                <a:moveTo>
                  <a:pt x="668866" y="119263"/>
                </a:moveTo>
                <a:cubicBezTo>
                  <a:pt x="651933" y="116441"/>
                  <a:pt x="634900" y="114163"/>
                  <a:pt x="618066" y="110796"/>
                </a:cubicBezTo>
                <a:cubicBezTo>
                  <a:pt x="606656" y="108514"/>
                  <a:pt x="595648" y="104411"/>
                  <a:pt x="584200" y="102329"/>
                </a:cubicBezTo>
                <a:cubicBezTo>
                  <a:pt x="564566" y="98759"/>
                  <a:pt x="544645" y="96975"/>
                  <a:pt x="524933" y="93863"/>
                </a:cubicBezTo>
                <a:cubicBezTo>
                  <a:pt x="375242" y="70228"/>
                  <a:pt x="473272" y="81469"/>
                  <a:pt x="330200" y="68463"/>
                </a:cubicBezTo>
                <a:cubicBezTo>
                  <a:pt x="318911" y="65641"/>
                  <a:pt x="307372" y="63676"/>
                  <a:pt x="296333" y="59996"/>
                </a:cubicBezTo>
                <a:cubicBezTo>
                  <a:pt x="281915" y="55190"/>
                  <a:pt x="268557" y="47430"/>
                  <a:pt x="254000" y="43063"/>
                </a:cubicBezTo>
                <a:cubicBezTo>
                  <a:pt x="240216" y="38928"/>
                  <a:pt x="225550" y="38382"/>
                  <a:pt x="211666" y="34596"/>
                </a:cubicBezTo>
                <a:cubicBezTo>
                  <a:pt x="194446" y="29900"/>
                  <a:pt x="178536" y="20187"/>
                  <a:pt x="160866" y="17663"/>
                </a:cubicBezTo>
                <a:cubicBezTo>
                  <a:pt x="141111" y="14841"/>
                  <a:pt x="121284" y="12477"/>
                  <a:pt x="101600" y="9196"/>
                </a:cubicBezTo>
                <a:cubicBezTo>
                  <a:pt x="87405" y="6830"/>
                  <a:pt x="73607" y="1924"/>
                  <a:pt x="59266" y="729"/>
                </a:cubicBezTo>
                <a:cubicBezTo>
                  <a:pt x="39579" y="-912"/>
                  <a:pt x="19755" y="729"/>
                  <a:pt x="0" y="729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4D8F326E-FF7D-4144-8DEF-11DB33FA46B5}"/>
              </a:ext>
            </a:extLst>
          </p:cNvPr>
          <p:cNvSpPr/>
          <p:nvPr/>
        </p:nvSpPr>
        <p:spPr>
          <a:xfrm>
            <a:off x="5435600" y="2836333"/>
            <a:ext cx="804333" cy="54260"/>
          </a:xfrm>
          <a:custGeom>
            <a:avLst/>
            <a:gdLst>
              <a:gd name="connsiteX0" fmla="*/ 804333 w 804333"/>
              <a:gd name="connsiteY0" fmla="*/ 0 h 54260"/>
              <a:gd name="connsiteX1" fmla="*/ 0 w 804333"/>
              <a:gd name="connsiteY1" fmla="*/ 16934 h 54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4333" h="54260">
                <a:moveTo>
                  <a:pt x="804333" y="0"/>
                </a:moveTo>
                <a:cubicBezTo>
                  <a:pt x="526168" y="111271"/>
                  <a:pt x="777198" y="16934"/>
                  <a:pt x="0" y="16934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5562D5E5-F0A5-4A24-9A7D-F58E8E9AC55A}"/>
              </a:ext>
            </a:extLst>
          </p:cNvPr>
          <p:cNvSpPr/>
          <p:nvPr/>
        </p:nvSpPr>
        <p:spPr>
          <a:xfrm>
            <a:off x="6155267" y="2847813"/>
            <a:ext cx="762000" cy="59316"/>
          </a:xfrm>
          <a:custGeom>
            <a:avLst/>
            <a:gdLst>
              <a:gd name="connsiteX0" fmla="*/ 762000 w 762000"/>
              <a:gd name="connsiteY0" fmla="*/ 16982 h 59316"/>
              <a:gd name="connsiteX1" fmla="*/ 296333 w 762000"/>
              <a:gd name="connsiteY1" fmla="*/ 42382 h 59316"/>
              <a:gd name="connsiteX2" fmla="*/ 262467 w 762000"/>
              <a:gd name="connsiteY2" fmla="*/ 50849 h 59316"/>
              <a:gd name="connsiteX3" fmla="*/ 220133 w 762000"/>
              <a:gd name="connsiteY3" fmla="*/ 59316 h 59316"/>
              <a:gd name="connsiteX4" fmla="*/ 76200 w 762000"/>
              <a:gd name="connsiteY4" fmla="*/ 50849 h 59316"/>
              <a:gd name="connsiteX5" fmla="*/ 50800 w 762000"/>
              <a:gd name="connsiteY5" fmla="*/ 33916 h 59316"/>
              <a:gd name="connsiteX6" fmla="*/ 25400 w 762000"/>
              <a:gd name="connsiteY6" fmla="*/ 25449 h 59316"/>
              <a:gd name="connsiteX7" fmla="*/ 0 w 762000"/>
              <a:gd name="connsiteY7" fmla="*/ 49 h 5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2000" h="59316">
                <a:moveTo>
                  <a:pt x="762000" y="16982"/>
                </a:moveTo>
                <a:cubicBezTo>
                  <a:pt x="576707" y="78749"/>
                  <a:pt x="754411" y="25096"/>
                  <a:pt x="296333" y="42382"/>
                </a:cubicBezTo>
                <a:cubicBezTo>
                  <a:pt x="284705" y="42821"/>
                  <a:pt x="273826" y="48325"/>
                  <a:pt x="262467" y="50849"/>
                </a:cubicBezTo>
                <a:cubicBezTo>
                  <a:pt x="248419" y="53971"/>
                  <a:pt x="234244" y="56494"/>
                  <a:pt x="220133" y="59316"/>
                </a:cubicBezTo>
                <a:cubicBezTo>
                  <a:pt x="172155" y="56494"/>
                  <a:pt x="123729" y="57978"/>
                  <a:pt x="76200" y="50849"/>
                </a:cubicBezTo>
                <a:cubicBezTo>
                  <a:pt x="66137" y="49340"/>
                  <a:pt x="59901" y="38467"/>
                  <a:pt x="50800" y="33916"/>
                </a:cubicBezTo>
                <a:cubicBezTo>
                  <a:pt x="42818" y="29925"/>
                  <a:pt x="33867" y="28271"/>
                  <a:pt x="25400" y="25449"/>
                </a:cubicBezTo>
                <a:cubicBezTo>
                  <a:pt x="6901" y="-2299"/>
                  <a:pt x="18643" y="49"/>
                  <a:pt x="0" y="49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36FE272D-C814-4C56-AC60-52B0043DA89A}"/>
              </a:ext>
            </a:extLst>
          </p:cNvPr>
          <p:cNvSpPr/>
          <p:nvPr/>
        </p:nvSpPr>
        <p:spPr>
          <a:xfrm>
            <a:off x="6255776" y="4445000"/>
            <a:ext cx="145024" cy="1507067"/>
          </a:xfrm>
          <a:custGeom>
            <a:avLst/>
            <a:gdLst>
              <a:gd name="connsiteX0" fmla="*/ 145024 w 145024"/>
              <a:gd name="connsiteY0" fmla="*/ 1507067 h 1507067"/>
              <a:gd name="connsiteX1" fmla="*/ 136557 w 145024"/>
              <a:gd name="connsiteY1" fmla="*/ 1456267 h 1507067"/>
              <a:gd name="connsiteX2" fmla="*/ 119624 w 145024"/>
              <a:gd name="connsiteY2" fmla="*/ 1346200 h 1507067"/>
              <a:gd name="connsiteX3" fmla="*/ 102691 w 145024"/>
              <a:gd name="connsiteY3" fmla="*/ 1210733 h 1507067"/>
              <a:gd name="connsiteX4" fmla="*/ 85757 w 145024"/>
              <a:gd name="connsiteY4" fmla="*/ 1151467 h 1507067"/>
              <a:gd name="connsiteX5" fmla="*/ 68824 w 145024"/>
              <a:gd name="connsiteY5" fmla="*/ 973667 h 1507067"/>
              <a:gd name="connsiteX6" fmla="*/ 60357 w 145024"/>
              <a:gd name="connsiteY6" fmla="*/ 922867 h 1507067"/>
              <a:gd name="connsiteX7" fmla="*/ 51891 w 145024"/>
              <a:gd name="connsiteY7" fmla="*/ 880533 h 1507067"/>
              <a:gd name="connsiteX8" fmla="*/ 34957 w 145024"/>
              <a:gd name="connsiteY8" fmla="*/ 778933 h 1507067"/>
              <a:gd name="connsiteX9" fmla="*/ 26491 w 145024"/>
              <a:gd name="connsiteY9" fmla="*/ 643467 h 1507067"/>
              <a:gd name="connsiteX10" fmla="*/ 18024 w 145024"/>
              <a:gd name="connsiteY10" fmla="*/ 609600 h 1507067"/>
              <a:gd name="connsiteX11" fmla="*/ 9557 w 145024"/>
              <a:gd name="connsiteY11" fmla="*/ 457200 h 1507067"/>
              <a:gd name="connsiteX12" fmla="*/ 1091 w 145024"/>
              <a:gd name="connsiteY12" fmla="*/ 397933 h 1507067"/>
              <a:gd name="connsiteX13" fmla="*/ 1091 w 145024"/>
              <a:gd name="connsiteY13" fmla="*/ 0 h 1507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5024" h="1507067">
                <a:moveTo>
                  <a:pt x="145024" y="1507067"/>
                </a:moveTo>
                <a:cubicBezTo>
                  <a:pt x="142202" y="1490134"/>
                  <a:pt x="138686" y="1473301"/>
                  <a:pt x="136557" y="1456267"/>
                </a:cubicBezTo>
                <a:cubicBezTo>
                  <a:pt x="123460" y="1351492"/>
                  <a:pt x="138238" y="1402040"/>
                  <a:pt x="119624" y="1346200"/>
                </a:cubicBezTo>
                <a:cubicBezTo>
                  <a:pt x="117286" y="1325157"/>
                  <a:pt x="108264" y="1236741"/>
                  <a:pt x="102691" y="1210733"/>
                </a:cubicBezTo>
                <a:cubicBezTo>
                  <a:pt x="98386" y="1190643"/>
                  <a:pt x="91402" y="1171222"/>
                  <a:pt x="85757" y="1151467"/>
                </a:cubicBezTo>
                <a:cubicBezTo>
                  <a:pt x="80113" y="1092200"/>
                  <a:pt x="78612" y="1032392"/>
                  <a:pt x="68824" y="973667"/>
                </a:cubicBezTo>
                <a:cubicBezTo>
                  <a:pt x="66002" y="956734"/>
                  <a:pt x="63428" y="939757"/>
                  <a:pt x="60357" y="922867"/>
                </a:cubicBezTo>
                <a:cubicBezTo>
                  <a:pt x="57783" y="908708"/>
                  <a:pt x="54079" y="894756"/>
                  <a:pt x="51891" y="880533"/>
                </a:cubicBezTo>
                <a:cubicBezTo>
                  <a:pt x="36037" y="777480"/>
                  <a:pt x="51982" y="847032"/>
                  <a:pt x="34957" y="778933"/>
                </a:cubicBezTo>
                <a:cubicBezTo>
                  <a:pt x="32135" y="733778"/>
                  <a:pt x="30993" y="688486"/>
                  <a:pt x="26491" y="643467"/>
                </a:cubicBezTo>
                <a:cubicBezTo>
                  <a:pt x="25333" y="631888"/>
                  <a:pt x="19078" y="621189"/>
                  <a:pt x="18024" y="609600"/>
                </a:cubicBezTo>
                <a:cubicBezTo>
                  <a:pt x="13418" y="558931"/>
                  <a:pt x="13614" y="507916"/>
                  <a:pt x="9557" y="457200"/>
                </a:cubicBezTo>
                <a:cubicBezTo>
                  <a:pt x="7966" y="437307"/>
                  <a:pt x="1460" y="417886"/>
                  <a:pt x="1091" y="397933"/>
                </a:cubicBezTo>
                <a:cubicBezTo>
                  <a:pt x="-1365" y="265311"/>
                  <a:pt x="1091" y="132644"/>
                  <a:pt x="1091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2E7C3DA2-5158-44D5-97D4-62BF473A2FEC}"/>
              </a:ext>
            </a:extLst>
          </p:cNvPr>
          <p:cNvSpPr/>
          <p:nvPr/>
        </p:nvSpPr>
        <p:spPr>
          <a:xfrm>
            <a:off x="5545667" y="4511825"/>
            <a:ext cx="660400" cy="34775"/>
          </a:xfrm>
          <a:custGeom>
            <a:avLst/>
            <a:gdLst>
              <a:gd name="connsiteX0" fmla="*/ 660400 w 660400"/>
              <a:gd name="connsiteY0" fmla="*/ 34775 h 34775"/>
              <a:gd name="connsiteX1" fmla="*/ 304800 w 660400"/>
              <a:gd name="connsiteY1" fmla="*/ 17842 h 34775"/>
              <a:gd name="connsiteX2" fmla="*/ 177800 w 660400"/>
              <a:gd name="connsiteY2" fmla="*/ 908 h 34775"/>
              <a:gd name="connsiteX3" fmla="*/ 0 w 660400"/>
              <a:gd name="connsiteY3" fmla="*/ 908 h 3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400" h="34775">
                <a:moveTo>
                  <a:pt x="660400" y="34775"/>
                </a:moveTo>
                <a:lnTo>
                  <a:pt x="304800" y="17842"/>
                </a:lnTo>
                <a:cubicBezTo>
                  <a:pt x="233197" y="13458"/>
                  <a:pt x="253719" y="3526"/>
                  <a:pt x="177800" y="908"/>
                </a:cubicBezTo>
                <a:cubicBezTo>
                  <a:pt x="118569" y="-1135"/>
                  <a:pt x="59267" y="908"/>
                  <a:pt x="0" y="908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6E43BEAA-70B0-4077-B4E4-7044934DE21E}"/>
              </a:ext>
            </a:extLst>
          </p:cNvPr>
          <p:cNvSpPr/>
          <p:nvPr/>
        </p:nvSpPr>
        <p:spPr>
          <a:xfrm>
            <a:off x="6231467" y="4512733"/>
            <a:ext cx="685800" cy="42334"/>
          </a:xfrm>
          <a:custGeom>
            <a:avLst/>
            <a:gdLst>
              <a:gd name="connsiteX0" fmla="*/ 685800 w 685800"/>
              <a:gd name="connsiteY0" fmla="*/ 0 h 42334"/>
              <a:gd name="connsiteX1" fmla="*/ 482600 w 685800"/>
              <a:gd name="connsiteY1" fmla="*/ 16934 h 42334"/>
              <a:gd name="connsiteX2" fmla="*/ 440266 w 685800"/>
              <a:gd name="connsiteY2" fmla="*/ 25400 h 42334"/>
              <a:gd name="connsiteX3" fmla="*/ 237066 w 685800"/>
              <a:gd name="connsiteY3" fmla="*/ 33867 h 42334"/>
              <a:gd name="connsiteX4" fmla="*/ 194733 w 685800"/>
              <a:gd name="connsiteY4" fmla="*/ 42334 h 42334"/>
              <a:gd name="connsiteX5" fmla="*/ 33866 w 685800"/>
              <a:gd name="connsiteY5" fmla="*/ 33867 h 42334"/>
              <a:gd name="connsiteX6" fmla="*/ 0 w 685800"/>
              <a:gd name="connsiteY6" fmla="*/ 33867 h 42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" h="42334">
                <a:moveTo>
                  <a:pt x="685800" y="0"/>
                </a:moveTo>
                <a:lnTo>
                  <a:pt x="482600" y="16934"/>
                </a:lnTo>
                <a:cubicBezTo>
                  <a:pt x="468320" y="18719"/>
                  <a:pt x="454623" y="24410"/>
                  <a:pt x="440266" y="25400"/>
                </a:cubicBezTo>
                <a:cubicBezTo>
                  <a:pt x="372635" y="30064"/>
                  <a:pt x="304799" y="31045"/>
                  <a:pt x="237066" y="33867"/>
                </a:cubicBezTo>
                <a:cubicBezTo>
                  <a:pt x="222955" y="36689"/>
                  <a:pt x="209123" y="42334"/>
                  <a:pt x="194733" y="42334"/>
                </a:cubicBezTo>
                <a:cubicBezTo>
                  <a:pt x="141036" y="42334"/>
                  <a:pt x="87512" y="36200"/>
                  <a:pt x="33866" y="33867"/>
                </a:cubicBezTo>
                <a:cubicBezTo>
                  <a:pt x="22588" y="33377"/>
                  <a:pt x="11289" y="33867"/>
                  <a:pt x="0" y="33867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4A2B9762-8B76-4765-A6D4-EDA3F884EDB2}"/>
              </a:ext>
            </a:extLst>
          </p:cNvPr>
          <p:cNvSpPr/>
          <p:nvPr/>
        </p:nvSpPr>
        <p:spPr>
          <a:xfrm>
            <a:off x="5545667" y="5198533"/>
            <a:ext cx="728133" cy="34175"/>
          </a:xfrm>
          <a:custGeom>
            <a:avLst/>
            <a:gdLst>
              <a:gd name="connsiteX0" fmla="*/ 728133 w 728133"/>
              <a:gd name="connsiteY0" fmla="*/ 0 h 34175"/>
              <a:gd name="connsiteX1" fmla="*/ 482600 w 728133"/>
              <a:gd name="connsiteY1" fmla="*/ 16934 h 34175"/>
              <a:gd name="connsiteX2" fmla="*/ 135466 w 728133"/>
              <a:gd name="connsiteY2" fmla="*/ 25400 h 34175"/>
              <a:gd name="connsiteX3" fmla="*/ 0 w 728133"/>
              <a:gd name="connsiteY3" fmla="*/ 33867 h 34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8133" h="34175">
                <a:moveTo>
                  <a:pt x="728133" y="0"/>
                </a:moveTo>
                <a:cubicBezTo>
                  <a:pt x="615508" y="16090"/>
                  <a:pt x="663358" y="11196"/>
                  <a:pt x="482600" y="16934"/>
                </a:cubicBezTo>
                <a:lnTo>
                  <a:pt x="135466" y="25400"/>
                </a:lnTo>
                <a:cubicBezTo>
                  <a:pt x="45330" y="36668"/>
                  <a:pt x="90486" y="33867"/>
                  <a:pt x="0" y="33867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1CEB1EBF-4649-40A8-9F9F-4C2A5A4ED40E}"/>
              </a:ext>
            </a:extLst>
          </p:cNvPr>
          <p:cNvSpPr/>
          <p:nvPr/>
        </p:nvSpPr>
        <p:spPr>
          <a:xfrm>
            <a:off x="6282267" y="5180579"/>
            <a:ext cx="719666" cy="43354"/>
          </a:xfrm>
          <a:custGeom>
            <a:avLst/>
            <a:gdLst>
              <a:gd name="connsiteX0" fmla="*/ 0 w 719666"/>
              <a:gd name="connsiteY0" fmla="*/ 43354 h 43354"/>
              <a:gd name="connsiteX1" fmla="*/ 321733 w 719666"/>
              <a:gd name="connsiteY1" fmla="*/ 34888 h 43354"/>
              <a:gd name="connsiteX2" fmla="*/ 491066 w 719666"/>
              <a:gd name="connsiteY2" fmla="*/ 9488 h 43354"/>
              <a:gd name="connsiteX3" fmla="*/ 533400 w 719666"/>
              <a:gd name="connsiteY3" fmla="*/ 1021 h 43354"/>
              <a:gd name="connsiteX4" fmla="*/ 719666 w 719666"/>
              <a:gd name="connsiteY4" fmla="*/ 1021 h 43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666" h="43354">
                <a:moveTo>
                  <a:pt x="0" y="43354"/>
                </a:moveTo>
                <a:cubicBezTo>
                  <a:pt x="107244" y="40532"/>
                  <a:pt x="214706" y="42269"/>
                  <a:pt x="321733" y="34888"/>
                </a:cubicBezTo>
                <a:cubicBezTo>
                  <a:pt x="378674" y="30961"/>
                  <a:pt x="435099" y="20682"/>
                  <a:pt x="491066" y="9488"/>
                </a:cubicBezTo>
                <a:cubicBezTo>
                  <a:pt x="505177" y="6666"/>
                  <a:pt x="519019" y="1554"/>
                  <a:pt x="533400" y="1021"/>
                </a:cubicBezTo>
                <a:cubicBezTo>
                  <a:pt x="595446" y="-1277"/>
                  <a:pt x="657577" y="1021"/>
                  <a:pt x="719666" y="1021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7B993938-9D9C-4FD1-B465-15D8440545C9}"/>
              </a:ext>
            </a:extLst>
          </p:cNvPr>
          <p:cNvSpPr txBox="1"/>
          <p:nvPr/>
        </p:nvSpPr>
        <p:spPr>
          <a:xfrm>
            <a:off x="1092849" y="5398647"/>
            <a:ext cx="309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地线总长度：约</a:t>
            </a:r>
            <a:r>
              <a:rPr lang="en-US" altLang="zh-CN" dirty="0"/>
              <a:t>260</a:t>
            </a:r>
            <a:r>
              <a:rPr lang="zh-CN" altLang="en-US" dirty="0"/>
              <a:t>米，两边各</a:t>
            </a:r>
            <a:r>
              <a:rPr lang="en-US" altLang="zh-CN" dirty="0"/>
              <a:t>130</a:t>
            </a:r>
            <a:r>
              <a:rPr lang="zh-CN" altLang="en-US" dirty="0"/>
              <a:t>米</a:t>
            </a:r>
            <a:endParaRPr lang="en-US" dirty="0"/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1CFF22DE-33CB-4C11-8D3E-8A8E82345571}"/>
              </a:ext>
            </a:extLst>
          </p:cNvPr>
          <p:cNvSpPr/>
          <p:nvPr/>
        </p:nvSpPr>
        <p:spPr>
          <a:xfrm>
            <a:off x="4301066" y="3505200"/>
            <a:ext cx="8467" cy="1143000"/>
          </a:xfrm>
          <a:custGeom>
            <a:avLst/>
            <a:gdLst>
              <a:gd name="connsiteX0" fmla="*/ 8467 w 8467"/>
              <a:gd name="connsiteY0" fmla="*/ 0 h 1143000"/>
              <a:gd name="connsiteX1" fmla="*/ 1 w 8467"/>
              <a:gd name="connsiteY1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67" h="1143000">
                <a:moveTo>
                  <a:pt x="8467" y="0"/>
                </a:moveTo>
                <a:cubicBezTo>
                  <a:pt x="-326" y="1063977"/>
                  <a:pt x="1" y="682966"/>
                  <a:pt x="1" y="114300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68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DDC107-ABF1-44CC-89DC-DCAE34AA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施工方案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207A9F-43D0-4C97-9C87-A792205A9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时间窗口：每周二和每周四有</a:t>
            </a:r>
            <a:r>
              <a:rPr lang="en-US" altLang="zh-CN" dirty="0"/>
              <a:t>1</a:t>
            </a:r>
            <a:r>
              <a:rPr lang="zh-CN" altLang="en-US" dirty="0"/>
              <a:t>个半小时的窗口，施工前会和运行组沟通；</a:t>
            </a:r>
            <a:endParaRPr lang="en-US" altLang="zh-CN" dirty="0"/>
          </a:p>
          <a:p>
            <a:r>
              <a:rPr lang="zh-CN" altLang="en-US" dirty="0"/>
              <a:t>施工方：安德圆通；</a:t>
            </a:r>
            <a:endParaRPr lang="en-US" altLang="zh-CN" dirty="0"/>
          </a:p>
          <a:p>
            <a:r>
              <a:rPr lang="zh-CN" altLang="en-US" dirty="0"/>
              <a:t>布线要求：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）地线</a:t>
            </a:r>
            <a:r>
              <a:rPr lang="zh-CN" altLang="en-US" dirty="0">
                <a:solidFill>
                  <a:srgbClr val="FF0000"/>
                </a:solidFill>
              </a:rPr>
              <a:t>远离动力线</a:t>
            </a:r>
            <a:r>
              <a:rPr lang="en-US" altLang="zh-CN" dirty="0">
                <a:solidFill>
                  <a:srgbClr val="FF0000"/>
                </a:solidFill>
              </a:rPr>
              <a:t>20 cm</a:t>
            </a:r>
            <a:r>
              <a:rPr lang="zh-CN" altLang="en-US" dirty="0">
                <a:solidFill>
                  <a:srgbClr val="FF0000"/>
                </a:solidFill>
              </a:rPr>
              <a:t>以上；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）位于</a:t>
            </a:r>
            <a:r>
              <a:rPr lang="en-US" altLang="zh-CN" dirty="0"/>
              <a:t>TT</a:t>
            </a:r>
            <a:r>
              <a:rPr lang="zh-CN" altLang="en-US" dirty="0"/>
              <a:t>桥的机柜地线，需要将地线沿着</a:t>
            </a:r>
            <a:r>
              <a:rPr lang="en-US" altLang="zh-CN" dirty="0"/>
              <a:t>TT</a:t>
            </a:r>
            <a:r>
              <a:rPr lang="zh-CN" altLang="en-US" dirty="0"/>
              <a:t>桥走线，避免与</a:t>
            </a:r>
            <a:r>
              <a:rPr lang="en-US" altLang="zh-CN" dirty="0"/>
              <a:t>RPC</a:t>
            </a:r>
            <a:r>
              <a:rPr lang="zh-CN" altLang="en-US" dirty="0"/>
              <a:t>模块发生干涉；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）接触点需要镀锡；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80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65389F-C5B6-4165-9248-DA51C7464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线粗计算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E8C05F-AB4B-41EC-80DB-0655C4A03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78400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要求从洁净地桩到机柜的地线电阻</a:t>
            </a:r>
            <a:r>
              <a:rPr lang="zh-CN" altLang="en-US" sz="2400" dirty="0">
                <a:solidFill>
                  <a:srgbClr val="FF0000"/>
                </a:solidFill>
              </a:rPr>
              <a:t>小于</a:t>
            </a:r>
            <a:r>
              <a:rPr lang="en-US" altLang="zh-CN" sz="2400" dirty="0">
                <a:solidFill>
                  <a:srgbClr val="FF0000"/>
                </a:solidFill>
              </a:rPr>
              <a:t>0.1</a:t>
            </a:r>
            <a:r>
              <a:rPr lang="zh-CN" altLang="en-US" sz="2400" dirty="0">
                <a:solidFill>
                  <a:srgbClr val="FF0000"/>
                </a:solidFill>
              </a:rPr>
              <a:t> 欧姆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如果布线长度是</a:t>
            </a:r>
            <a:r>
              <a:rPr lang="en-US" altLang="zh-CN" sz="2400" dirty="0"/>
              <a:t>100 m</a:t>
            </a:r>
            <a:r>
              <a:rPr lang="zh-CN" altLang="en-US" sz="2400" dirty="0"/>
              <a:t>，根据铜电阻率是</a:t>
            </a:r>
            <a:r>
              <a:rPr lang="en-US" altLang="zh-CN" sz="2400" dirty="0"/>
              <a:t>0.0172 ohm x mm^2/m</a:t>
            </a:r>
            <a:r>
              <a:rPr lang="zh-CN" altLang="en-US" sz="2400" dirty="0"/>
              <a:t>，计算得到铜界面是</a:t>
            </a:r>
            <a:r>
              <a:rPr lang="en-US" altLang="zh-CN" sz="2400" dirty="0"/>
              <a:t>17.2 mm^2</a:t>
            </a:r>
            <a:r>
              <a:rPr lang="zh-CN" altLang="en-US" sz="2400" dirty="0"/>
              <a:t>，实际工程按照</a:t>
            </a:r>
            <a:r>
              <a:rPr lang="en-US" altLang="zh-CN" sz="2400" dirty="0"/>
              <a:t>2-4</a:t>
            </a:r>
            <a:r>
              <a:rPr lang="zh-CN" altLang="en-US" sz="2400" dirty="0"/>
              <a:t>倍计算，要求至少是</a:t>
            </a:r>
            <a:r>
              <a:rPr lang="en-US" altLang="zh-CN" sz="2400" dirty="0"/>
              <a:t>35 mm^2</a:t>
            </a:r>
            <a:r>
              <a:rPr lang="zh-CN" altLang="en-US" sz="2400" dirty="0"/>
              <a:t>；</a:t>
            </a:r>
            <a:endParaRPr lang="en-US" sz="2400" dirty="0"/>
          </a:p>
        </p:txBody>
      </p:sp>
      <p:pic>
        <p:nvPicPr>
          <p:cNvPr id="5122" name="Picture 2" descr="5.png">
            <a:extLst>
              <a:ext uri="{FF2B5EF4-FFF2-40B4-BE49-F238E27FC236}">
                <a16:creationId xmlns:a16="http://schemas.microsoft.com/office/drawing/2014/main" id="{ABDAF4F5-8392-47AA-A147-31AC3D282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098" y="1713100"/>
            <a:ext cx="5214937" cy="491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9FF45C1-2ECE-46CE-8A8E-28D722435E54}"/>
              </a:ext>
            </a:extLst>
          </p:cNvPr>
          <p:cNvSpPr/>
          <p:nvPr/>
        </p:nvSpPr>
        <p:spPr>
          <a:xfrm>
            <a:off x="369752" y="6311900"/>
            <a:ext cx="5726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https://www.wiring-world.com/document_info/315.html</a:t>
            </a:r>
          </a:p>
        </p:txBody>
      </p:sp>
    </p:spTree>
    <p:extLst>
      <p:ext uri="{BB962C8B-B14F-4D97-AF65-F5344CB8AC3E}">
        <p14:creationId xmlns:p14="http://schemas.microsoft.com/office/powerpoint/2010/main" val="2664104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2A4BC-E86E-4B30-9C82-5A7F085B3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材料要求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F463D5-EDB8-48A5-9F10-14E27AA0B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0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考虑到现场湿度较大，因此材料需要镀锡：</a:t>
            </a:r>
            <a:endParaRPr lang="en-US" altLang="zh-CN" dirty="0"/>
          </a:p>
          <a:p>
            <a:r>
              <a:rPr lang="zh-CN" altLang="en-US" dirty="0"/>
              <a:t>地线材料：</a:t>
            </a:r>
            <a:r>
              <a:rPr lang="en-US" altLang="zh-CN" dirty="0">
                <a:solidFill>
                  <a:srgbClr val="FF0000"/>
                </a:solidFill>
              </a:rPr>
              <a:t>35</a:t>
            </a:r>
            <a:r>
              <a:rPr lang="zh-CN" altLang="en-US" dirty="0">
                <a:solidFill>
                  <a:srgbClr val="FF0000"/>
                </a:solidFill>
              </a:rPr>
              <a:t>平方国标</a:t>
            </a:r>
            <a:r>
              <a:rPr lang="zh-CN" altLang="en-US" dirty="0"/>
              <a:t>镀锡编织铜线，外面有阻燃的绝缘护套，宽度</a:t>
            </a:r>
            <a:r>
              <a:rPr lang="en-US" altLang="zh-CN" dirty="0"/>
              <a:t>40 mm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铜鼻：镀锡铜鼻；</a:t>
            </a:r>
            <a:endParaRPr lang="en-US" altLang="zh-CN" dirty="0"/>
          </a:p>
          <a:p>
            <a:r>
              <a:rPr lang="zh-CN" altLang="en-US" dirty="0"/>
              <a:t>锁紧螺栓：铜螺栓；</a:t>
            </a:r>
            <a:endParaRPr lang="en-US" altLang="zh-CN" dirty="0"/>
          </a:p>
          <a:p>
            <a:r>
              <a:rPr lang="zh-CN" altLang="en-US" dirty="0"/>
              <a:t>地排：镀锡铜排；</a:t>
            </a:r>
            <a:endParaRPr lang="en-US" altLang="zh-CN" dirty="0"/>
          </a:p>
          <a:p>
            <a:r>
              <a:rPr lang="zh-CN" altLang="en-US" dirty="0"/>
              <a:t>热缩套管：阻燃，内径</a:t>
            </a:r>
            <a:r>
              <a:rPr lang="en-US" altLang="zh-CN" dirty="0"/>
              <a:t>50mm</a:t>
            </a:r>
          </a:p>
          <a:p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4E765-2960-44BB-AD3C-0D17C131BD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9" b="18148"/>
          <a:stretch/>
        </p:blipFill>
        <p:spPr>
          <a:xfrm>
            <a:off x="8267700" y="1952360"/>
            <a:ext cx="3086100" cy="409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958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F34EC9-FB51-4CB1-84AC-0F528559D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预算</a:t>
            </a:r>
            <a:endParaRPr lang="en-US" dirty="0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4691D9E6-5FC6-44BB-B05A-16A90A1838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2516174"/>
              </p:ext>
            </p:extLst>
          </p:nvPr>
        </p:nvGraphicFramePr>
        <p:xfrm>
          <a:off x="838200" y="1825625"/>
          <a:ext cx="1051560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2801181541"/>
                    </a:ext>
                  </a:extLst>
                </a:gridCol>
                <a:gridCol w="1494196">
                  <a:extLst>
                    <a:ext uri="{9D8B030D-6E8A-4147-A177-3AD203B41FA5}">
                      <a16:colId xmlns:a16="http://schemas.microsoft.com/office/drawing/2014/main" val="1848919845"/>
                    </a:ext>
                  </a:extLst>
                </a:gridCol>
                <a:gridCol w="1837610">
                  <a:extLst>
                    <a:ext uri="{9D8B030D-6E8A-4147-A177-3AD203B41FA5}">
                      <a16:colId xmlns:a16="http://schemas.microsoft.com/office/drawing/2014/main" val="971463619"/>
                    </a:ext>
                  </a:extLst>
                </a:gridCol>
                <a:gridCol w="2169498">
                  <a:extLst>
                    <a:ext uri="{9D8B030D-6E8A-4147-A177-3AD203B41FA5}">
                      <a16:colId xmlns:a16="http://schemas.microsoft.com/office/drawing/2014/main" val="3212608370"/>
                    </a:ext>
                  </a:extLst>
                </a:gridCol>
                <a:gridCol w="2169498">
                  <a:extLst>
                    <a:ext uri="{9D8B030D-6E8A-4147-A177-3AD203B41FA5}">
                      <a16:colId xmlns:a16="http://schemas.microsoft.com/office/drawing/2014/main" val="721184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材料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价格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单价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单位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591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  <a:r>
                        <a:rPr lang="zh-CN" altLang="en-US" dirty="0"/>
                        <a:t>平方国标镀锡铜线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r>
                        <a:rPr lang="zh-CN" altLang="en-US" dirty="0"/>
                        <a:t>元</a:t>
                      </a:r>
                      <a:r>
                        <a:rPr lang="en-US" altLang="zh-CN" dirty="0"/>
                        <a:t>/m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米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161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镀锡线鼻子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</a:t>
                      </a:r>
                      <a:r>
                        <a:rPr lang="zh-CN" altLang="en-US" dirty="0"/>
                        <a:t>元</a:t>
                      </a:r>
                      <a:r>
                        <a:rPr lang="en-US" altLang="zh-CN" dirty="0"/>
                        <a:t>/10</a:t>
                      </a:r>
                      <a:r>
                        <a:rPr lang="zh-CN" altLang="en-US" dirty="0"/>
                        <a:t>个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883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镀锡铜排（</a:t>
                      </a:r>
                      <a:r>
                        <a:rPr lang="en-US" altLang="zh-CN" dirty="0"/>
                        <a:t>30*4*500</a:t>
                      </a:r>
                      <a:r>
                        <a:rPr lang="zh-CN" altLang="en-US" dirty="0"/>
                        <a:t>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827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镀锡铜螺栓螺母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10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安捷宝阻燃热缩套管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r>
                        <a:rPr lang="zh-CN" altLang="en-US" dirty="0"/>
                        <a:t>元</a:t>
                      </a:r>
                      <a:r>
                        <a:rPr lang="en-US" altLang="zh-CN" dirty="0"/>
                        <a:t>/100</a:t>
                      </a:r>
                      <a:r>
                        <a:rPr lang="zh-CN" altLang="en-US" dirty="0"/>
                        <a:t>米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卷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170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总价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431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011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F06AEB-2F55-4E41-B588-C3FEFFE5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B8D29-6F3B-4251-8817-DD6510F20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914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7C9AC-413C-FAE1-7DA5-7B190690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C9BA7-A88A-3D45-B8E2-E35FFB248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系统功率考虑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40F3A412-8A50-F08E-1E0F-216AC45B6DCA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825625"/>
          <a:ext cx="105156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835">
                  <a:extLst>
                    <a:ext uri="{9D8B030D-6E8A-4147-A177-3AD203B41FA5}">
                      <a16:colId xmlns:a16="http://schemas.microsoft.com/office/drawing/2014/main" val="1527403183"/>
                    </a:ext>
                  </a:extLst>
                </a:gridCol>
                <a:gridCol w="2066365">
                  <a:extLst>
                    <a:ext uri="{9D8B030D-6E8A-4147-A177-3AD203B41FA5}">
                      <a16:colId xmlns:a16="http://schemas.microsoft.com/office/drawing/2014/main" val="4052720815"/>
                    </a:ext>
                  </a:extLst>
                </a:gridCol>
                <a:gridCol w="2110582">
                  <a:extLst>
                    <a:ext uri="{9D8B030D-6E8A-4147-A177-3AD203B41FA5}">
                      <a16:colId xmlns:a16="http://schemas.microsoft.com/office/drawing/2014/main" val="3070958168"/>
                    </a:ext>
                  </a:extLst>
                </a:gridCol>
                <a:gridCol w="1127666">
                  <a:extLst>
                    <a:ext uri="{9D8B030D-6E8A-4147-A177-3AD203B41FA5}">
                      <a16:colId xmlns:a16="http://schemas.microsoft.com/office/drawing/2014/main" val="1775736410"/>
                    </a:ext>
                  </a:extLst>
                </a:gridCol>
                <a:gridCol w="2019552">
                  <a:extLst>
                    <a:ext uri="{9D8B030D-6E8A-4147-A177-3AD203B41FA5}">
                      <a16:colId xmlns:a16="http://schemas.microsoft.com/office/drawing/2014/main" val="191437898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19961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Sub System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Single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Quantity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Total (Unit: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W)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32859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Electronics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LV Power Supply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550 W 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AC220 V</a:t>
                      </a:r>
                      <a:r>
                        <a:rPr lang="zh-CN" altLang="en-US" dirty="0"/>
                        <a:t>， </a:t>
                      </a:r>
                      <a:r>
                        <a:rPr lang="en-US" altLang="zh-CN" dirty="0"/>
                        <a:t>5A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8800</a:t>
                      </a:r>
                      <a:endParaRPr lang="zh-CN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Clean Power</a:t>
                      </a:r>
                    </a:p>
                    <a:p>
                      <a:pPr algn="ctr"/>
                      <a:r>
                        <a:rPr lang="en-US" altLang="zh-CN" dirty="0"/>
                        <a:t>18 kW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0627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WR Switch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 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 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22001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Detectors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HV Crate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2000 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8000 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864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DCS (</a:t>
                      </a:r>
                      <a:r>
                        <a:rPr lang="zh-CN" altLang="en-US" dirty="0"/>
                        <a:t>温湿度，压力，气体，</a:t>
                      </a:r>
                      <a:r>
                        <a:rPr lang="en-US" altLang="zh-CN" dirty="0"/>
                        <a:t>485</a:t>
                      </a:r>
                      <a:r>
                        <a:rPr lang="zh-CN" altLang="en-US" dirty="0"/>
                        <a:t>交换机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Dirty Power</a:t>
                      </a:r>
                    </a:p>
                    <a:p>
                      <a:pPr algn="ctr"/>
                      <a:r>
                        <a:rPr lang="en-US" altLang="zh-CN" dirty="0"/>
                        <a:t>2 kW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1116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299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58C0C-4FF9-767D-04CA-9C8F0B534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4C859-C3DF-19E6-C128-753CA750A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机柜功率考虑</a:t>
            </a:r>
          </a:p>
        </p:txBody>
      </p:sp>
      <p:graphicFrame>
        <p:nvGraphicFramePr>
          <p:cNvPr id="3" name="内容占位符 3">
            <a:extLst>
              <a:ext uri="{FF2B5EF4-FFF2-40B4-BE49-F238E27FC236}">
                <a16:creationId xmlns:a16="http://schemas.microsoft.com/office/drawing/2014/main" id="{E222ACEF-417E-C6C8-D7A0-CAABC004E67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52833" y="1825625"/>
          <a:ext cx="1036219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16">
                  <a:extLst>
                    <a:ext uri="{9D8B030D-6E8A-4147-A177-3AD203B41FA5}">
                      <a16:colId xmlns:a16="http://schemas.microsoft.com/office/drawing/2014/main" val="1527403183"/>
                    </a:ext>
                  </a:extLst>
                </a:gridCol>
                <a:gridCol w="2793461">
                  <a:extLst>
                    <a:ext uri="{9D8B030D-6E8A-4147-A177-3AD203B41FA5}">
                      <a16:colId xmlns:a16="http://schemas.microsoft.com/office/drawing/2014/main" val="4052720815"/>
                    </a:ext>
                  </a:extLst>
                </a:gridCol>
                <a:gridCol w="2495750">
                  <a:extLst>
                    <a:ext uri="{9D8B030D-6E8A-4147-A177-3AD203B41FA5}">
                      <a16:colId xmlns:a16="http://schemas.microsoft.com/office/drawing/2014/main" val="3070958168"/>
                    </a:ext>
                  </a:extLst>
                </a:gridCol>
                <a:gridCol w="1333458">
                  <a:extLst>
                    <a:ext uri="{9D8B030D-6E8A-4147-A177-3AD203B41FA5}">
                      <a16:colId xmlns:a16="http://schemas.microsoft.com/office/drawing/2014/main" val="1775736410"/>
                    </a:ext>
                  </a:extLst>
                </a:gridCol>
                <a:gridCol w="2388107">
                  <a:extLst>
                    <a:ext uri="{9D8B030D-6E8A-4147-A177-3AD203B41FA5}">
                      <a16:colId xmlns:a16="http://schemas.microsoft.com/office/drawing/2014/main" val="19143789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Racks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Single (Unit: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W)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Quantity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Total (Unit: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W)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32859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28U</a:t>
                      </a:r>
                      <a:r>
                        <a:rPr lang="zh-CN" altLang="en-US" dirty="0"/>
                        <a:t>机柜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LV Power Supply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0627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HV Crate (</a:t>
                      </a:r>
                      <a:r>
                        <a:rPr lang="zh-CN" altLang="en-US" dirty="0"/>
                        <a:t>含隔离变压器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2000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22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094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PDU</a:t>
                      </a:r>
                      <a:r>
                        <a:rPr lang="zh-CN" altLang="en-US" dirty="0"/>
                        <a:t>选型：</a:t>
                      </a:r>
                      <a:r>
                        <a:rPr lang="en-US" altLang="zh-CN" dirty="0"/>
                        <a:t>4000 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57150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22U</a:t>
                      </a:r>
                      <a:r>
                        <a:rPr lang="zh-CN" altLang="en-US" dirty="0"/>
                        <a:t>机柜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LV Power Supply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550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864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WR Switch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116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590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9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PDU</a:t>
                      </a:r>
                      <a:r>
                        <a:rPr lang="zh-CN" altLang="en-US" dirty="0"/>
                        <a:t>选型：</a:t>
                      </a:r>
                      <a:r>
                        <a:rPr lang="en-US" altLang="zh-CN" dirty="0"/>
                        <a:t>2500 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375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175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图片 84">
            <a:extLst>
              <a:ext uri="{FF2B5EF4-FFF2-40B4-BE49-F238E27FC236}">
                <a16:creationId xmlns:a16="http://schemas.microsoft.com/office/drawing/2014/main" id="{8F462F30-5DFA-430B-A1A1-B5002FF288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59" r="43780" b="9775"/>
          <a:stretch/>
        </p:blipFill>
        <p:spPr>
          <a:xfrm>
            <a:off x="8238085" y="102348"/>
            <a:ext cx="3829328" cy="1531385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F94594E1-4DC1-45DD-8FD7-A18A896530EE}"/>
              </a:ext>
            </a:extLst>
          </p:cNvPr>
          <p:cNvSpPr txBox="1"/>
          <p:nvPr/>
        </p:nvSpPr>
        <p:spPr>
          <a:xfrm>
            <a:off x="8554163" y="1505273"/>
            <a:ext cx="3172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ighlight>
                  <a:srgbClr val="00FF00"/>
                </a:highlight>
              </a:rPr>
              <a:t>1U</a:t>
            </a:r>
            <a:r>
              <a:rPr lang="zh-CN" altLang="en-US" dirty="0">
                <a:highlight>
                  <a:srgbClr val="00FF00"/>
                </a:highlight>
              </a:rPr>
              <a:t>风扇机箱</a:t>
            </a:r>
            <a:r>
              <a:rPr lang="zh-CN" altLang="en-US" dirty="0"/>
              <a:t>：是否需要监控需求？直接网络连接比较难买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9DDC84DC-DA1D-465D-AE38-C76DA8C7D8B2}"/>
              </a:ext>
            </a:extLst>
          </p:cNvPr>
          <p:cNvSpPr txBox="1"/>
          <p:nvPr/>
        </p:nvSpPr>
        <p:spPr>
          <a:xfrm>
            <a:off x="9170127" y="5215450"/>
            <a:ext cx="255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气管走线：现场确定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25C8D938-4069-47B0-84E9-52F1B58916A7}"/>
              </a:ext>
            </a:extLst>
          </p:cNvPr>
          <p:cNvSpPr txBox="1"/>
          <p:nvPr/>
        </p:nvSpPr>
        <p:spPr>
          <a:xfrm>
            <a:off x="9217910" y="5556768"/>
            <a:ext cx="2830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气管在机柜固定：扎带</a:t>
            </a:r>
            <a:r>
              <a:rPr lang="en-US" altLang="zh-CN" dirty="0"/>
              <a:t>+</a:t>
            </a:r>
            <a:r>
              <a:rPr lang="zh-CN" altLang="en-US" dirty="0"/>
              <a:t>管夹</a:t>
            </a:r>
            <a:endParaRPr lang="en-US" altLang="zh-CN" dirty="0"/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F00AAF2F-2888-4269-AC05-8D5626EAB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5747" y="2483944"/>
            <a:ext cx="2690724" cy="2540226"/>
          </a:xfrm>
          <a:prstGeom prst="rect">
            <a:avLst/>
          </a:prstGeom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74426549-6D9F-4309-A9F8-F06A4657E36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0" t="24996" r="53238" b="28984"/>
          <a:stretch/>
        </p:blipFill>
        <p:spPr>
          <a:xfrm>
            <a:off x="5486407" y="254315"/>
            <a:ext cx="2207438" cy="1382022"/>
          </a:xfrm>
          <a:prstGeom prst="rect">
            <a:avLst/>
          </a:prstGeom>
        </p:spPr>
      </p:pic>
      <p:sp>
        <p:nvSpPr>
          <p:cNvPr id="93" name="文本框 92">
            <a:extLst>
              <a:ext uri="{FF2B5EF4-FFF2-40B4-BE49-F238E27FC236}">
                <a16:creationId xmlns:a16="http://schemas.microsoft.com/office/drawing/2014/main" id="{470A12CA-22B0-431A-9C9D-0322F29F36FC}"/>
              </a:ext>
            </a:extLst>
          </p:cNvPr>
          <p:cNvSpPr txBox="1"/>
          <p:nvPr/>
        </p:nvSpPr>
        <p:spPr>
          <a:xfrm>
            <a:off x="5905924" y="1634210"/>
            <a:ext cx="1623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2U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侧出风扇</a:t>
            </a:r>
          </a:p>
        </p:txBody>
      </p:sp>
      <p:sp>
        <p:nvSpPr>
          <p:cNvPr id="92" name="矩形: 单圆角 91">
            <a:extLst>
              <a:ext uri="{FF2B5EF4-FFF2-40B4-BE49-F238E27FC236}">
                <a16:creationId xmlns:a16="http://schemas.microsoft.com/office/drawing/2014/main" id="{F406F6EC-5B34-4534-A3F0-F199F8F33FDC}"/>
              </a:ext>
            </a:extLst>
          </p:cNvPr>
          <p:cNvSpPr/>
          <p:nvPr/>
        </p:nvSpPr>
        <p:spPr>
          <a:xfrm flipH="1">
            <a:off x="3595748" y="571636"/>
            <a:ext cx="45719" cy="5565118"/>
          </a:xfrm>
          <a:prstGeom prst="round1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: 单圆角 93">
            <a:extLst>
              <a:ext uri="{FF2B5EF4-FFF2-40B4-BE49-F238E27FC236}">
                <a16:creationId xmlns:a16="http://schemas.microsoft.com/office/drawing/2014/main" id="{F5A0C4CB-9A72-4E8A-8613-3619B0DB8EA0}"/>
              </a:ext>
            </a:extLst>
          </p:cNvPr>
          <p:cNvSpPr/>
          <p:nvPr/>
        </p:nvSpPr>
        <p:spPr>
          <a:xfrm>
            <a:off x="7481352" y="2259835"/>
            <a:ext cx="127246" cy="3876957"/>
          </a:xfrm>
          <a:prstGeom prst="round1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1A326C8-6A3D-43FD-AEB6-8808D83B18B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412101" y="2259835"/>
          <a:ext cx="2035175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Worksheet" r:id="rId6" imgW="2034646" imgH="4038671" progId="Excel.Sheet.12">
                  <p:embed/>
                </p:oleObj>
              </mc:Choice>
              <mc:Fallback>
                <p:oleObj name="Worksheet" r:id="rId6" imgW="2034646" imgH="4038671" progId="Excel.Sheet.12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1A326C8-6A3D-43FD-AEB6-8808D83B18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12101" y="2259835"/>
                        <a:ext cx="2035175" cy="403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9815560-8B01-4AF8-BB71-2883D2DAB52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11318" y="571636"/>
          <a:ext cx="2644775" cy="579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Worksheet" r:id="rId8" imgW="2644105" imgH="5791342" progId="Excel.Sheet.12">
                  <p:embed/>
                </p:oleObj>
              </mc:Choice>
              <mc:Fallback>
                <p:oleObj name="Worksheet" r:id="rId8" imgW="2644105" imgH="5791342" progId="Excel.Sheet.12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9815560-8B01-4AF8-BB71-2883D2DAB5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11318" y="571636"/>
                        <a:ext cx="2644775" cy="579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ACF54D3D-6E6D-49ED-BCAC-7524666731E7}"/>
              </a:ext>
            </a:extLst>
          </p:cNvPr>
          <p:cNvSpPr txBox="1"/>
          <p:nvPr/>
        </p:nvSpPr>
        <p:spPr>
          <a:xfrm>
            <a:off x="902328" y="6136927"/>
            <a:ext cx="2644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32U</a:t>
            </a:r>
            <a:r>
              <a:rPr lang="zh-CN" altLang="en-US" b="1" dirty="0"/>
              <a:t>机柜侧视图（</a:t>
            </a:r>
            <a:r>
              <a:rPr lang="en-US" altLang="zh-CN" b="1" dirty="0"/>
              <a:t>4</a:t>
            </a:r>
            <a:r>
              <a:rPr lang="zh-CN" altLang="en-US" b="1" dirty="0"/>
              <a:t>个）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7C7A227A-3B8C-4CE0-9A93-C92473ED4A31}"/>
              </a:ext>
            </a:extLst>
          </p:cNvPr>
          <p:cNvSpPr txBox="1"/>
          <p:nvPr/>
        </p:nvSpPr>
        <p:spPr>
          <a:xfrm>
            <a:off x="3848311" y="1106500"/>
            <a:ext cx="1147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机柜门板（镂空）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40F458D9-FE68-4AA1-AD32-A634D2DC78A3}"/>
              </a:ext>
            </a:extLst>
          </p:cNvPr>
          <p:cNvSpPr/>
          <p:nvPr/>
        </p:nvSpPr>
        <p:spPr>
          <a:xfrm>
            <a:off x="1120099" y="4197536"/>
            <a:ext cx="2461177" cy="6641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934F319E-F127-4F3A-AA41-6090A85ACF07}"/>
              </a:ext>
            </a:extLst>
          </p:cNvPr>
          <p:cNvSpPr txBox="1"/>
          <p:nvPr/>
        </p:nvSpPr>
        <p:spPr>
          <a:xfrm>
            <a:off x="3756607" y="3446242"/>
            <a:ext cx="114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机箱板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00157BA4-2F2E-4A32-B068-6D4923F7934A}"/>
              </a:ext>
            </a:extLst>
          </p:cNvPr>
          <p:cNvSpPr/>
          <p:nvPr/>
        </p:nvSpPr>
        <p:spPr>
          <a:xfrm>
            <a:off x="1076559" y="3089779"/>
            <a:ext cx="2436468" cy="6641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4C63F494-9D5D-4E0A-95DF-8190B85229E3}"/>
              </a:ext>
            </a:extLst>
          </p:cNvPr>
          <p:cNvCxnSpPr>
            <a:cxnSpLocks/>
          </p:cNvCxnSpPr>
          <p:nvPr/>
        </p:nvCxnSpPr>
        <p:spPr>
          <a:xfrm flipH="1" flipV="1">
            <a:off x="3398392" y="3146288"/>
            <a:ext cx="622460" cy="333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7F5C9E18-4DCF-43EF-A167-AC51FE98B0C3}"/>
              </a:ext>
            </a:extLst>
          </p:cNvPr>
          <p:cNvCxnSpPr>
            <a:cxnSpLocks/>
            <a:endCxn id="97" idx="3"/>
          </p:cNvCxnSpPr>
          <p:nvPr/>
        </p:nvCxnSpPr>
        <p:spPr>
          <a:xfrm flipH="1">
            <a:off x="3581276" y="3729758"/>
            <a:ext cx="439576" cy="500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5E8AD10-F317-48AA-89A0-98D4981B6B2D}"/>
              </a:ext>
            </a:extLst>
          </p:cNvPr>
          <p:cNvSpPr txBox="1"/>
          <p:nvPr/>
        </p:nvSpPr>
        <p:spPr>
          <a:xfrm>
            <a:off x="395864" y="2974138"/>
            <a:ext cx="491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隔热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4D490607-1285-4C35-AC85-0FB59A03AFA7}"/>
              </a:ext>
            </a:extLst>
          </p:cNvPr>
          <p:cNvSpPr txBox="1"/>
          <p:nvPr/>
        </p:nvSpPr>
        <p:spPr>
          <a:xfrm>
            <a:off x="407796" y="4069315"/>
            <a:ext cx="557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支撑</a:t>
            </a:r>
          </a:p>
        </p:txBody>
      </p:sp>
      <p:sp>
        <p:nvSpPr>
          <p:cNvPr id="104" name="箭头: 上 103">
            <a:extLst>
              <a:ext uri="{FF2B5EF4-FFF2-40B4-BE49-F238E27FC236}">
                <a16:creationId xmlns:a16="http://schemas.microsoft.com/office/drawing/2014/main" id="{85490997-5890-421A-9032-D994076BD4CA}"/>
              </a:ext>
            </a:extLst>
          </p:cNvPr>
          <p:cNvSpPr/>
          <p:nvPr/>
        </p:nvSpPr>
        <p:spPr>
          <a:xfrm rot="17591494">
            <a:off x="754051" y="4756920"/>
            <a:ext cx="135087" cy="584312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5" name="箭头: 上 104">
            <a:extLst>
              <a:ext uri="{FF2B5EF4-FFF2-40B4-BE49-F238E27FC236}">
                <a16:creationId xmlns:a16="http://schemas.microsoft.com/office/drawing/2014/main" id="{01D4580E-07BE-4905-95AA-9D534D08BF07}"/>
              </a:ext>
            </a:extLst>
          </p:cNvPr>
          <p:cNvSpPr/>
          <p:nvPr/>
        </p:nvSpPr>
        <p:spPr>
          <a:xfrm rot="18075073" flipH="1">
            <a:off x="2085135" y="3203469"/>
            <a:ext cx="93682" cy="760204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" name="箭头: 上 105">
            <a:extLst>
              <a:ext uri="{FF2B5EF4-FFF2-40B4-BE49-F238E27FC236}">
                <a16:creationId xmlns:a16="http://schemas.microsoft.com/office/drawing/2014/main" id="{A38F33D2-C64B-42A3-9E31-B909D9CB170E}"/>
              </a:ext>
            </a:extLst>
          </p:cNvPr>
          <p:cNvSpPr/>
          <p:nvPr/>
        </p:nvSpPr>
        <p:spPr>
          <a:xfrm>
            <a:off x="1948557" y="513810"/>
            <a:ext cx="124084" cy="2094131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" name="箭头: 上 106">
            <a:extLst>
              <a:ext uri="{FF2B5EF4-FFF2-40B4-BE49-F238E27FC236}">
                <a16:creationId xmlns:a16="http://schemas.microsoft.com/office/drawing/2014/main" id="{3DDBE3CF-706A-4E67-81B7-F23CAC791579}"/>
              </a:ext>
            </a:extLst>
          </p:cNvPr>
          <p:cNvSpPr/>
          <p:nvPr/>
        </p:nvSpPr>
        <p:spPr>
          <a:xfrm>
            <a:off x="3077890" y="525321"/>
            <a:ext cx="124084" cy="2094131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" name="箭头: 上 107">
            <a:extLst>
              <a:ext uri="{FF2B5EF4-FFF2-40B4-BE49-F238E27FC236}">
                <a16:creationId xmlns:a16="http://schemas.microsoft.com/office/drawing/2014/main" id="{2744F79E-510F-454F-ACE6-17D1989575C2}"/>
              </a:ext>
            </a:extLst>
          </p:cNvPr>
          <p:cNvSpPr/>
          <p:nvPr/>
        </p:nvSpPr>
        <p:spPr>
          <a:xfrm rot="16200000">
            <a:off x="1515374" y="2573756"/>
            <a:ext cx="80593" cy="1534590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" name="箭头: 下弧形 108">
            <a:extLst>
              <a:ext uri="{FF2B5EF4-FFF2-40B4-BE49-F238E27FC236}">
                <a16:creationId xmlns:a16="http://schemas.microsoft.com/office/drawing/2014/main" id="{D75C67DC-2C15-42CF-8A5B-79F18B81126C}"/>
              </a:ext>
            </a:extLst>
          </p:cNvPr>
          <p:cNvSpPr/>
          <p:nvPr/>
        </p:nvSpPr>
        <p:spPr>
          <a:xfrm>
            <a:off x="809601" y="2790586"/>
            <a:ext cx="582400" cy="251836"/>
          </a:xfrm>
          <a:prstGeom prst="curved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B76E8A01-D425-4765-9E79-3F7B558CF1EC}"/>
              </a:ext>
            </a:extLst>
          </p:cNvPr>
          <p:cNvSpPr txBox="1"/>
          <p:nvPr/>
        </p:nvSpPr>
        <p:spPr>
          <a:xfrm>
            <a:off x="130588" y="2552349"/>
            <a:ext cx="794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干燥空气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B4187A0-2103-43AC-A287-94645F377A2F}"/>
              </a:ext>
            </a:extLst>
          </p:cNvPr>
          <p:cNvSpPr txBox="1"/>
          <p:nvPr/>
        </p:nvSpPr>
        <p:spPr>
          <a:xfrm>
            <a:off x="3723387" y="2607941"/>
            <a:ext cx="794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干燥空气</a:t>
            </a:r>
          </a:p>
        </p:txBody>
      </p:sp>
      <p:sp>
        <p:nvSpPr>
          <p:cNvPr id="112" name="矩形: 单圆角 111">
            <a:extLst>
              <a:ext uri="{FF2B5EF4-FFF2-40B4-BE49-F238E27FC236}">
                <a16:creationId xmlns:a16="http://schemas.microsoft.com/office/drawing/2014/main" id="{43853142-ACF7-4FC4-890C-2768CA9DB62B}"/>
              </a:ext>
            </a:extLst>
          </p:cNvPr>
          <p:cNvSpPr/>
          <p:nvPr/>
        </p:nvSpPr>
        <p:spPr>
          <a:xfrm flipH="1">
            <a:off x="3595748" y="571636"/>
            <a:ext cx="45719" cy="5565118"/>
          </a:xfrm>
          <a:prstGeom prst="round1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7EE66EE4-75A2-404B-A846-CABA045A43AD}"/>
              </a:ext>
            </a:extLst>
          </p:cNvPr>
          <p:cNvCxnSpPr>
            <a:cxnSpLocks/>
          </p:cNvCxnSpPr>
          <p:nvPr/>
        </p:nvCxnSpPr>
        <p:spPr>
          <a:xfrm flipH="1">
            <a:off x="3675770" y="1429666"/>
            <a:ext cx="345082" cy="206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箭头: 下弧形 113">
            <a:extLst>
              <a:ext uri="{FF2B5EF4-FFF2-40B4-BE49-F238E27FC236}">
                <a16:creationId xmlns:a16="http://schemas.microsoft.com/office/drawing/2014/main" id="{016FAD0F-5E35-4C00-928E-9526DC9E6F51}"/>
              </a:ext>
            </a:extLst>
          </p:cNvPr>
          <p:cNvSpPr/>
          <p:nvPr/>
        </p:nvSpPr>
        <p:spPr>
          <a:xfrm flipH="1">
            <a:off x="3365141" y="2863224"/>
            <a:ext cx="530810" cy="213998"/>
          </a:xfrm>
          <a:prstGeom prst="curved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A35F09A8-8D07-4761-91F8-3F7ECCF211FB}"/>
              </a:ext>
            </a:extLst>
          </p:cNvPr>
          <p:cNvCxnSpPr>
            <a:endCxn id="97" idx="1"/>
          </p:cNvCxnSpPr>
          <p:nvPr/>
        </p:nvCxnSpPr>
        <p:spPr>
          <a:xfrm>
            <a:off x="824282" y="4230741"/>
            <a:ext cx="29581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47971A67-E052-4A22-87AF-8E27CF709D45}"/>
              </a:ext>
            </a:extLst>
          </p:cNvPr>
          <p:cNvCxnSpPr>
            <a:cxnSpLocks/>
            <a:endCxn id="99" idx="1"/>
          </p:cNvCxnSpPr>
          <p:nvPr/>
        </p:nvCxnSpPr>
        <p:spPr>
          <a:xfrm>
            <a:off x="721806" y="3111499"/>
            <a:ext cx="354753" cy="11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F4E63CF5-FC24-4F28-A0CA-AC1A2B07CBDE}"/>
              </a:ext>
            </a:extLst>
          </p:cNvPr>
          <p:cNvSpPr txBox="1"/>
          <p:nvPr/>
        </p:nvSpPr>
        <p:spPr>
          <a:xfrm>
            <a:off x="215009" y="3211322"/>
            <a:ext cx="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热流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3FD5A989-CCBF-4161-AFB0-7C83180AD113}"/>
              </a:ext>
            </a:extLst>
          </p:cNvPr>
          <p:cNvSpPr txBox="1"/>
          <p:nvPr/>
        </p:nvSpPr>
        <p:spPr>
          <a:xfrm>
            <a:off x="242326" y="4571699"/>
            <a:ext cx="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热流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18E5BCC-FFAD-42A1-BC3F-44A76FF8DDE3}"/>
              </a:ext>
            </a:extLst>
          </p:cNvPr>
          <p:cNvSpPr txBox="1"/>
          <p:nvPr/>
        </p:nvSpPr>
        <p:spPr>
          <a:xfrm>
            <a:off x="1561749" y="184580"/>
            <a:ext cx="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热流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7122CEE0-FD90-46D7-A31F-F77267A8CF17}"/>
              </a:ext>
            </a:extLst>
          </p:cNvPr>
          <p:cNvSpPr txBox="1"/>
          <p:nvPr/>
        </p:nvSpPr>
        <p:spPr>
          <a:xfrm>
            <a:off x="2803773" y="178552"/>
            <a:ext cx="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热流</a:t>
            </a:r>
          </a:p>
        </p:txBody>
      </p:sp>
      <p:sp>
        <p:nvSpPr>
          <p:cNvPr id="121" name="矩形: 单圆角 120">
            <a:extLst>
              <a:ext uri="{FF2B5EF4-FFF2-40B4-BE49-F238E27FC236}">
                <a16:creationId xmlns:a16="http://schemas.microsoft.com/office/drawing/2014/main" id="{272B8A24-D867-4216-AD97-2DC398540907}"/>
              </a:ext>
            </a:extLst>
          </p:cNvPr>
          <p:cNvSpPr/>
          <p:nvPr/>
        </p:nvSpPr>
        <p:spPr>
          <a:xfrm>
            <a:off x="7481352" y="2259835"/>
            <a:ext cx="127246" cy="3876957"/>
          </a:xfrm>
          <a:prstGeom prst="round1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6D92EC2E-EB2D-48BE-9058-3309BC671CB1}"/>
              </a:ext>
            </a:extLst>
          </p:cNvPr>
          <p:cNvSpPr txBox="1"/>
          <p:nvPr/>
        </p:nvSpPr>
        <p:spPr>
          <a:xfrm>
            <a:off x="5053463" y="6306055"/>
            <a:ext cx="287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22U</a:t>
            </a:r>
            <a:r>
              <a:rPr lang="zh-CN" altLang="en-US" b="1" dirty="0"/>
              <a:t>机柜安装图（</a:t>
            </a:r>
            <a:r>
              <a:rPr lang="en-US" altLang="zh-CN" b="1" dirty="0"/>
              <a:t>12</a:t>
            </a:r>
            <a:r>
              <a:rPr lang="zh-CN" altLang="en-US" b="1" dirty="0"/>
              <a:t>个）</a:t>
            </a:r>
          </a:p>
        </p:txBody>
      </p: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16883E19-EE5E-4E62-967C-2ADCC0C117E3}"/>
              </a:ext>
            </a:extLst>
          </p:cNvPr>
          <p:cNvCxnSpPr/>
          <p:nvPr/>
        </p:nvCxnSpPr>
        <p:spPr>
          <a:xfrm flipH="1">
            <a:off x="7608598" y="3463836"/>
            <a:ext cx="265588" cy="208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文本框 123">
            <a:extLst>
              <a:ext uri="{FF2B5EF4-FFF2-40B4-BE49-F238E27FC236}">
                <a16:creationId xmlns:a16="http://schemas.microsoft.com/office/drawing/2014/main" id="{D0EA243E-7007-40BE-97DC-CF197ED7EDC7}"/>
              </a:ext>
            </a:extLst>
          </p:cNvPr>
          <p:cNvSpPr txBox="1"/>
          <p:nvPr/>
        </p:nvSpPr>
        <p:spPr>
          <a:xfrm>
            <a:off x="7595465" y="2888318"/>
            <a:ext cx="1147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机柜门板（镂空）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7B3C8351-A2B0-4A81-B5A4-02A1EEB2B6EB}"/>
              </a:ext>
            </a:extLst>
          </p:cNvPr>
          <p:cNvSpPr/>
          <p:nvPr/>
        </p:nvSpPr>
        <p:spPr>
          <a:xfrm>
            <a:off x="5657699" y="5584782"/>
            <a:ext cx="1776838" cy="458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箭头: 上 125">
            <a:extLst>
              <a:ext uri="{FF2B5EF4-FFF2-40B4-BE49-F238E27FC236}">
                <a16:creationId xmlns:a16="http://schemas.microsoft.com/office/drawing/2014/main" id="{273BBD56-63CC-4CDE-BC5C-3E1281FA89E8}"/>
              </a:ext>
            </a:extLst>
          </p:cNvPr>
          <p:cNvSpPr/>
          <p:nvPr/>
        </p:nvSpPr>
        <p:spPr>
          <a:xfrm rot="16200000">
            <a:off x="5660677" y="5289492"/>
            <a:ext cx="115114" cy="1039604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" name="箭头: 上 126">
            <a:extLst>
              <a:ext uri="{FF2B5EF4-FFF2-40B4-BE49-F238E27FC236}">
                <a16:creationId xmlns:a16="http://schemas.microsoft.com/office/drawing/2014/main" id="{8C97C37C-C10F-4FA5-8B46-B3A2DB8A46AB}"/>
              </a:ext>
            </a:extLst>
          </p:cNvPr>
          <p:cNvSpPr/>
          <p:nvPr/>
        </p:nvSpPr>
        <p:spPr>
          <a:xfrm>
            <a:off x="6430353" y="2416770"/>
            <a:ext cx="124084" cy="2094131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8" name="箭头: 上 127">
            <a:extLst>
              <a:ext uri="{FF2B5EF4-FFF2-40B4-BE49-F238E27FC236}">
                <a16:creationId xmlns:a16="http://schemas.microsoft.com/office/drawing/2014/main" id="{22CDB72B-6002-4240-BD72-F4D5CA2FDCB6}"/>
              </a:ext>
            </a:extLst>
          </p:cNvPr>
          <p:cNvSpPr/>
          <p:nvPr/>
        </p:nvSpPr>
        <p:spPr>
          <a:xfrm>
            <a:off x="7041271" y="2412706"/>
            <a:ext cx="122934" cy="2423876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2E37F937-FF71-4ADE-B654-2E759D6EB6B0}"/>
              </a:ext>
            </a:extLst>
          </p:cNvPr>
          <p:cNvSpPr txBox="1"/>
          <p:nvPr/>
        </p:nvSpPr>
        <p:spPr>
          <a:xfrm>
            <a:off x="7655414" y="5523525"/>
            <a:ext cx="114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机箱板</a:t>
            </a:r>
          </a:p>
        </p:txBody>
      </p:sp>
      <p:sp>
        <p:nvSpPr>
          <p:cNvPr id="130" name="箭头: 下弧形 129">
            <a:extLst>
              <a:ext uri="{FF2B5EF4-FFF2-40B4-BE49-F238E27FC236}">
                <a16:creationId xmlns:a16="http://schemas.microsoft.com/office/drawing/2014/main" id="{40CF594C-AC24-48C2-89AD-F8699BA493E1}"/>
              </a:ext>
            </a:extLst>
          </p:cNvPr>
          <p:cNvSpPr/>
          <p:nvPr/>
        </p:nvSpPr>
        <p:spPr>
          <a:xfrm flipH="1">
            <a:off x="7341613" y="5261376"/>
            <a:ext cx="530810" cy="213998"/>
          </a:xfrm>
          <a:prstGeom prst="curved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B81F0A4B-5815-4121-9A46-3BEC474EA167}"/>
              </a:ext>
            </a:extLst>
          </p:cNvPr>
          <p:cNvSpPr txBox="1"/>
          <p:nvPr/>
        </p:nvSpPr>
        <p:spPr>
          <a:xfrm>
            <a:off x="7699859" y="5006093"/>
            <a:ext cx="794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干燥空气</a:t>
            </a:r>
          </a:p>
        </p:txBody>
      </p:sp>
      <p:sp>
        <p:nvSpPr>
          <p:cNvPr id="132" name="箭头: 下弧形 131">
            <a:extLst>
              <a:ext uri="{FF2B5EF4-FFF2-40B4-BE49-F238E27FC236}">
                <a16:creationId xmlns:a16="http://schemas.microsoft.com/office/drawing/2014/main" id="{CF14545D-8310-4021-AA07-B6383B7F7ED6}"/>
              </a:ext>
            </a:extLst>
          </p:cNvPr>
          <p:cNvSpPr/>
          <p:nvPr/>
        </p:nvSpPr>
        <p:spPr>
          <a:xfrm>
            <a:off x="5315042" y="4710663"/>
            <a:ext cx="582400" cy="251836"/>
          </a:xfrm>
          <a:prstGeom prst="curved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094A80EA-80C2-4C87-9107-D1EA59D514E7}"/>
              </a:ext>
            </a:extLst>
          </p:cNvPr>
          <p:cNvSpPr txBox="1"/>
          <p:nvPr/>
        </p:nvSpPr>
        <p:spPr>
          <a:xfrm>
            <a:off x="4636029" y="4472426"/>
            <a:ext cx="794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干燥空气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C36821B9-93A1-4D97-A19E-0B999B46BB5A}"/>
              </a:ext>
            </a:extLst>
          </p:cNvPr>
          <p:cNvSpPr txBox="1"/>
          <p:nvPr/>
        </p:nvSpPr>
        <p:spPr>
          <a:xfrm>
            <a:off x="4871959" y="5432760"/>
            <a:ext cx="557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隔热</a:t>
            </a:r>
          </a:p>
        </p:txBody>
      </p: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0DAD40D6-F4BC-420F-85C9-E6B5C0709603}"/>
              </a:ext>
            </a:extLst>
          </p:cNvPr>
          <p:cNvCxnSpPr>
            <a:cxnSpLocks/>
          </p:cNvCxnSpPr>
          <p:nvPr/>
        </p:nvCxnSpPr>
        <p:spPr>
          <a:xfrm>
            <a:off x="5280842" y="5588901"/>
            <a:ext cx="354753" cy="11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79865CFF-51EC-4A26-A267-989E960941A2}"/>
              </a:ext>
            </a:extLst>
          </p:cNvPr>
          <p:cNvSpPr txBox="1"/>
          <p:nvPr/>
        </p:nvSpPr>
        <p:spPr>
          <a:xfrm>
            <a:off x="4599416" y="5655356"/>
            <a:ext cx="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热流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8941D54D-8E6F-49BE-BCE7-26DAE5F148F6}"/>
              </a:ext>
            </a:extLst>
          </p:cNvPr>
          <p:cNvSpPr txBox="1"/>
          <p:nvPr/>
        </p:nvSpPr>
        <p:spPr>
          <a:xfrm>
            <a:off x="6142237" y="2046083"/>
            <a:ext cx="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热流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968F13F1-1CDD-4D17-B5FF-D94D848E7814}"/>
              </a:ext>
            </a:extLst>
          </p:cNvPr>
          <p:cNvSpPr txBox="1"/>
          <p:nvPr/>
        </p:nvSpPr>
        <p:spPr>
          <a:xfrm>
            <a:off x="6791107" y="2043373"/>
            <a:ext cx="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热流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8C4CE734-B815-473A-B2AE-3C5FD59925A1}"/>
              </a:ext>
            </a:extLst>
          </p:cNvPr>
          <p:cNvSpPr txBox="1"/>
          <p:nvPr/>
        </p:nvSpPr>
        <p:spPr>
          <a:xfrm>
            <a:off x="5905924" y="1634210"/>
            <a:ext cx="1623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2U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侧出风扇</a:t>
            </a:r>
          </a:p>
        </p:txBody>
      </p:sp>
    </p:spTree>
    <p:extLst>
      <p:ext uri="{BB962C8B-B14F-4D97-AF65-F5344CB8AC3E}">
        <p14:creationId xmlns:p14="http://schemas.microsoft.com/office/powerpoint/2010/main" val="1262061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931</Words>
  <Application>Microsoft Office PowerPoint</Application>
  <PresentationFormat>宽屏</PresentationFormat>
  <Paragraphs>191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楷体</vt:lpstr>
      <vt:lpstr>等线</vt:lpstr>
      <vt:lpstr>等线 Light</vt:lpstr>
      <vt:lpstr>Arial</vt:lpstr>
      <vt:lpstr>Calibri</vt:lpstr>
      <vt:lpstr>Calibri Light</vt:lpstr>
      <vt:lpstr>Office 主题​​</vt:lpstr>
      <vt:lpstr>Worksheet</vt:lpstr>
      <vt:lpstr>地线安装方案</vt:lpstr>
      <vt:lpstr>提纲</vt:lpstr>
      <vt:lpstr>电源和地线网络</vt:lpstr>
      <vt:lpstr>系统干净地接地考虑</vt:lpstr>
      <vt:lpstr>PowerPoint 演示文稿</vt:lpstr>
      <vt:lpstr>系统脏地考虑</vt:lpstr>
      <vt:lpstr>PowerPoint 演示文稿</vt:lpstr>
      <vt:lpstr>施工方案</vt:lpstr>
      <vt:lpstr>线粗计算</vt:lpstr>
      <vt:lpstr>材料要求</vt:lpstr>
      <vt:lpstr>预算</vt:lpstr>
      <vt:lpstr>谢谢</vt:lpstr>
      <vt:lpstr>系统功率考虑</vt:lpstr>
      <vt:lpstr>机柜功率考虑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地线安装方案</dc:title>
  <dc:creator>DELL</dc:creator>
  <cp:lastModifiedBy>DELL</cp:lastModifiedBy>
  <cp:revision>101</cp:revision>
  <dcterms:created xsi:type="dcterms:W3CDTF">2026-03-19T01:33:12Z</dcterms:created>
  <dcterms:modified xsi:type="dcterms:W3CDTF">2026-03-19T09:06:11Z</dcterms:modified>
</cp:coreProperties>
</file>