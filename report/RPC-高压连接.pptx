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757" r:id="rId2"/>
    <p:sldId id="1755" r:id="rId3"/>
    <p:sldId id="1756" r:id="rId4"/>
    <p:sldId id="583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9" d="100"/>
          <a:sy n="79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A06C-9546-4DDB-8944-929252E6E101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082-A074-4B23-B222-7FBD700DE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794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A06C-9546-4DDB-8944-929252E6E101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082-A074-4B23-B222-7FBD700DE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003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A06C-9546-4DDB-8944-929252E6E101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082-A074-4B23-B222-7FBD700DE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986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A06C-9546-4DDB-8944-929252E6E101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082-A074-4B23-B222-7FBD700DE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88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A06C-9546-4DDB-8944-929252E6E101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082-A074-4B23-B222-7FBD700DE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491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A06C-9546-4DDB-8944-929252E6E101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082-A074-4B23-B222-7FBD700DE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95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A06C-9546-4DDB-8944-929252E6E101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082-A074-4B23-B222-7FBD700DE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539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A06C-9546-4DDB-8944-929252E6E101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082-A074-4B23-B222-7FBD700DE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562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A06C-9546-4DDB-8944-929252E6E101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082-A074-4B23-B222-7FBD700DE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031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A06C-9546-4DDB-8944-929252E6E101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082-A074-4B23-B222-7FBD700DE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020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A06C-9546-4DDB-8944-929252E6E101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082-A074-4B23-B222-7FBD700DE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275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7A06C-9546-4DDB-8944-929252E6E101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BA5082-A074-4B23-B222-7FBD700DE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4C3C3D1-3355-4135-B27D-6C1C4B096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8" y="218182"/>
            <a:ext cx="7886700" cy="636583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确认</a:t>
            </a:r>
            <a:r>
              <a:rPr lang="en-US" altLang="zh-CN" dirty="0"/>
              <a:t>RPC</a:t>
            </a:r>
            <a:r>
              <a:rPr lang="zh-CN" altLang="en-US" dirty="0"/>
              <a:t>安装的一些细节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80931F4-8FE4-4A8D-93DF-FDE3D1028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321" y="5098773"/>
            <a:ext cx="8547353" cy="144076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zh-CN" altLang="en-US" sz="2000" dirty="0"/>
              <a:t>目前的设定要求制作和</a:t>
            </a:r>
            <a:r>
              <a:rPr lang="en-US" altLang="zh-CN" sz="2000" dirty="0"/>
              <a:t>RPC</a:t>
            </a:r>
            <a:r>
              <a:rPr lang="zh-CN" altLang="en-US" sz="2000" dirty="0"/>
              <a:t>数量类似的高压电缆，高压接头的定制费用较多，</a:t>
            </a:r>
            <a:endParaRPr lang="en-US" altLang="zh-CN" sz="2000" dirty="0"/>
          </a:p>
          <a:p>
            <a:pPr>
              <a:lnSpc>
                <a:spcPct val="110000"/>
              </a:lnSpc>
            </a:pPr>
            <a:r>
              <a:rPr lang="zh-CN" altLang="en-US" sz="2000" dirty="0"/>
              <a:t>安德远通的答复：</a:t>
            </a:r>
            <a:r>
              <a:rPr lang="en-US" altLang="zh-CN" sz="2000" dirty="0"/>
              <a:t>8000V</a:t>
            </a:r>
            <a:r>
              <a:rPr lang="zh-CN" altLang="en-US" sz="2000" dirty="0"/>
              <a:t>的高压线缆直接连接不能确保可靠性、稳定性；图中</a:t>
            </a:r>
            <a:r>
              <a:rPr lang="en-US" altLang="zh-CN" sz="2000" dirty="0"/>
              <a:t>spider</a:t>
            </a:r>
            <a:r>
              <a:rPr lang="zh-CN" altLang="en-US" sz="2000" dirty="0"/>
              <a:t>线的连接盒为注胶密封，拆开重新连接长的高压电缆人工费不便宜</a:t>
            </a:r>
            <a:endParaRPr lang="en-US" altLang="zh-CN" sz="2000" dirty="0"/>
          </a:p>
          <a:p>
            <a:pPr>
              <a:lnSpc>
                <a:spcPct val="110000"/>
              </a:lnSpc>
            </a:pPr>
            <a:r>
              <a:rPr lang="zh-CN" altLang="en-US" sz="2000" dirty="0"/>
              <a:t>这个细节咋弄？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2431DC7-C479-4C63-B104-09E8B561E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387" y="964095"/>
            <a:ext cx="5791222" cy="413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97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A8D5FB-E1A7-4C7B-91DE-2B6E48DF9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0826"/>
            <a:ext cx="7886700" cy="705139"/>
          </a:xfrm>
        </p:spPr>
        <p:txBody>
          <a:bodyPr>
            <a:noAutofit/>
          </a:bodyPr>
          <a:lstStyle/>
          <a:p>
            <a:pPr algn="ctr"/>
            <a:r>
              <a:rPr lang="zh-CN" altLang="en-US" dirty="0"/>
              <a:t>气体和高压分配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1C9DA1-FDF9-4A7D-ABD2-11F806FAA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57" y="4643292"/>
            <a:ext cx="8510487" cy="19431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800" dirty="0"/>
              <a:t> </a:t>
            </a:r>
            <a:r>
              <a:rPr lang="zh-CN" altLang="en-US" sz="1800" dirty="0"/>
              <a:t>高压分配器安置在</a:t>
            </a:r>
            <a:r>
              <a:rPr lang="en-US" altLang="zh-CN" sz="1800" dirty="0"/>
              <a:t>RPC</a:t>
            </a:r>
            <a:r>
              <a:rPr lang="zh-CN" altLang="en-US" sz="1800" dirty="0"/>
              <a:t>气袋的外面，每个</a:t>
            </a:r>
            <a:r>
              <a:rPr lang="en-US" altLang="zh-CN" sz="1800" dirty="0"/>
              <a:t>RPC</a:t>
            </a:r>
            <a:r>
              <a:rPr lang="zh-CN" altLang="en-US" sz="1800" dirty="0"/>
              <a:t>用单独的长电缆连接，</a:t>
            </a:r>
            <a:endParaRPr lang="en-US" altLang="zh-CN" sz="1800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800" u="sng" dirty="0"/>
              <a:t>工作气体输入经过原</a:t>
            </a:r>
            <a:r>
              <a:rPr lang="en-US" altLang="zh-CN" sz="1800" u="sng" dirty="0"/>
              <a:t>ARGO</a:t>
            </a:r>
            <a:r>
              <a:rPr lang="zh-CN" altLang="en-US" sz="1800" u="sng" dirty="0"/>
              <a:t>的毛细管分配器（</a:t>
            </a:r>
            <a:r>
              <a:rPr lang="en-US" altLang="zh-CN" sz="1800" u="sng" dirty="0"/>
              <a:t>1</a:t>
            </a:r>
            <a:r>
              <a:rPr lang="zh-CN" altLang="en-US" sz="1800" u="sng" dirty="0"/>
              <a:t>转</a:t>
            </a:r>
            <a:r>
              <a:rPr lang="en-US" altLang="zh-CN" sz="1800" u="sng" dirty="0"/>
              <a:t>6</a:t>
            </a:r>
            <a:r>
              <a:rPr lang="zh-CN" altLang="en-US" sz="1800" u="sng" dirty="0"/>
              <a:t>）接入</a:t>
            </a:r>
            <a:r>
              <a:rPr lang="en-US" altLang="zh-CN" sz="1800" u="sng" dirty="0"/>
              <a:t>RPC</a:t>
            </a:r>
            <a:r>
              <a:rPr lang="zh-CN" altLang="en-US" sz="1800" u="sng" dirty="0"/>
              <a:t>（需要</a:t>
            </a:r>
            <a:r>
              <a:rPr lang="en-US" altLang="zh-CN" sz="1800" u="sng" dirty="0"/>
              <a:t>80</a:t>
            </a:r>
            <a:r>
              <a:rPr lang="zh-CN" altLang="en-US" sz="1800" u="sng" dirty="0"/>
              <a:t>个），两个</a:t>
            </a:r>
            <a:r>
              <a:rPr lang="en-US" altLang="zh-CN" sz="1800" u="sng" dirty="0"/>
              <a:t>RPC</a:t>
            </a:r>
            <a:r>
              <a:rPr lang="zh-CN" altLang="en-US" sz="1800" u="sng" dirty="0"/>
              <a:t>串联供气；出口经过一个</a:t>
            </a:r>
            <a:r>
              <a:rPr lang="en-US" altLang="zh-CN" sz="1800" u="sng" dirty="0"/>
              <a:t>1</a:t>
            </a:r>
            <a:r>
              <a:rPr lang="zh-CN" altLang="en-US" sz="1800" u="sng" dirty="0"/>
              <a:t>拖</a:t>
            </a:r>
            <a:r>
              <a:rPr lang="en-US" altLang="zh-CN" sz="1800" u="sng" dirty="0"/>
              <a:t>6</a:t>
            </a:r>
            <a:r>
              <a:rPr lang="zh-CN" altLang="en-US" sz="1800" u="sng" dirty="0"/>
              <a:t>的快插转接器连接后引出</a:t>
            </a:r>
            <a:r>
              <a:rPr lang="en-US" altLang="zh-CN" sz="1800" u="sng" dirty="0"/>
              <a:t>RPC</a:t>
            </a:r>
            <a:r>
              <a:rPr lang="zh-CN" altLang="en-US" sz="1800" u="sng" dirty="0"/>
              <a:t>气袋。</a:t>
            </a:r>
            <a:endParaRPr lang="en-US" altLang="zh-CN" sz="1800" u="sng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800" dirty="0"/>
              <a:t>需要采购</a:t>
            </a:r>
            <a:r>
              <a:rPr lang="en-US" altLang="zh-CN" sz="1800" dirty="0"/>
              <a:t>900</a:t>
            </a:r>
            <a:r>
              <a:rPr lang="zh-CN" altLang="en-US" sz="1800" dirty="0"/>
              <a:t>个快插三通</a:t>
            </a:r>
            <a:r>
              <a:rPr lang="en-US" altLang="zh-CN" sz="1800" dirty="0"/>
              <a:t>+80</a:t>
            </a:r>
            <a:r>
              <a:rPr lang="zh-CN" altLang="en-US" sz="1800" dirty="0"/>
              <a:t>个</a:t>
            </a:r>
            <a:r>
              <a:rPr lang="en-US" altLang="zh-CN" sz="1800" dirty="0"/>
              <a:t>1</a:t>
            </a:r>
            <a:r>
              <a:rPr lang="zh-CN" altLang="en-US" sz="1800" dirty="0"/>
              <a:t>拖</a:t>
            </a:r>
            <a:r>
              <a:rPr lang="en-US" altLang="zh-CN" sz="1800" dirty="0"/>
              <a:t>6</a:t>
            </a:r>
            <a:r>
              <a:rPr lang="zh-CN" altLang="en-US" sz="1800" dirty="0"/>
              <a:t>的快插转接器用于气路连接。</a:t>
            </a:r>
            <a:endParaRPr lang="en-US" altLang="zh-CN" sz="1800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800" dirty="0"/>
              <a:t>HV</a:t>
            </a:r>
            <a:r>
              <a:rPr lang="zh-CN" altLang="en-US" sz="1800" dirty="0"/>
              <a:t>电缆数量：</a:t>
            </a:r>
            <a:r>
              <a:rPr lang="en-US" altLang="zh-CN" sz="1800" dirty="0"/>
              <a:t>980</a:t>
            </a:r>
            <a:r>
              <a:rPr lang="zh-CN" altLang="en-US" sz="1800" dirty="0"/>
              <a:t>根高压电缆</a:t>
            </a:r>
            <a:r>
              <a:rPr lang="en-US" altLang="zh-CN" sz="1800" dirty="0"/>
              <a:t>+ 80</a:t>
            </a:r>
            <a:r>
              <a:rPr lang="zh-CN" altLang="en-US" sz="1800" dirty="0"/>
              <a:t>根</a:t>
            </a:r>
            <a:r>
              <a:rPr lang="en-US" altLang="zh-CN" sz="1800" dirty="0"/>
              <a:t>ARGO spider HV</a:t>
            </a:r>
            <a:r>
              <a:rPr lang="zh-CN" altLang="en-US" sz="1800" dirty="0"/>
              <a:t>线。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FD2D65-3853-4289-9CEA-C54F56AC8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63" y="967050"/>
            <a:ext cx="4412036" cy="354260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E361DD3-18A8-40E6-A543-40738C763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207" y="1453173"/>
            <a:ext cx="4412036" cy="31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81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5C6F60-76A0-45C4-8F20-DC64937C9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4627"/>
            <a:ext cx="7886700" cy="682624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dirty="0"/>
              <a:t>HV</a:t>
            </a:r>
            <a:r>
              <a:rPr lang="zh-CN" altLang="en-US" dirty="0"/>
              <a:t>相关存货及新需求数量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69F20A1-6209-48BE-AA77-7D70A34B0E4C}"/>
              </a:ext>
            </a:extLst>
          </p:cNvPr>
          <p:cNvSpPr txBox="1">
            <a:spLocks/>
          </p:cNvSpPr>
          <p:nvPr/>
        </p:nvSpPr>
        <p:spPr>
          <a:xfrm>
            <a:off x="1318698" y="950120"/>
            <a:ext cx="6717236" cy="172878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800"/>
              </a:spcBef>
            </a:pPr>
            <a:r>
              <a:rPr lang="zh-CN" altLang="en-US" sz="1400" dirty="0"/>
              <a:t>存量：</a:t>
            </a:r>
            <a:endParaRPr lang="en-US" altLang="zh-CN" sz="1400" dirty="0"/>
          </a:p>
          <a:p>
            <a:pPr lvl="1">
              <a:lnSpc>
                <a:spcPct val="110000"/>
              </a:lnSpc>
              <a:spcBef>
                <a:spcPts val="800"/>
              </a:spcBef>
            </a:pPr>
            <a:r>
              <a:rPr lang="en-US" altLang="zh-CN" sz="1400" dirty="0"/>
              <a:t>1</a:t>
            </a:r>
            <a:r>
              <a:rPr lang="zh-CN" altLang="en-US" sz="1400" dirty="0"/>
              <a:t>、高压线缆（接</a:t>
            </a:r>
            <a:r>
              <a:rPr lang="en-US" altLang="zh-CN" sz="1400" dirty="0"/>
              <a:t>RPC</a:t>
            </a:r>
            <a:r>
              <a:rPr lang="zh-CN" altLang="en-US" sz="1400" dirty="0"/>
              <a:t>端，</a:t>
            </a:r>
            <a:r>
              <a:rPr lang="en-US" altLang="zh-CN" sz="1400" dirty="0"/>
              <a:t>spider</a:t>
            </a:r>
            <a:r>
              <a:rPr lang="zh-CN" altLang="en-US" sz="1400" dirty="0"/>
              <a:t>线）：</a:t>
            </a:r>
            <a:r>
              <a:rPr lang="en-US" altLang="zh-CN" sz="1400" dirty="0"/>
              <a:t>113</a:t>
            </a:r>
            <a:r>
              <a:rPr lang="zh-CN" altLang="en-US" sz="1400" dirty="0"/>
              <a:t>根（合计</a:t>
            </a:r>
            <a:r>
              <a:rPr lang="en-US" altLang="zh-CN" sz="1400" dirty="0"/>
              <a:t>1356</a:t>
            </a:r>
            <a:r>
              <a:rPr lang="zh-CN" altLang="en-US" sz="1400" dirty="0"/>
              <a:t>块</a:t>
            </a:r>
            <a:r>
              <a:rPr lang="en-US" altLang="zh-CN" sz="1400" dirty="0"/>
              <a:t>RPC</a:t>
            </a:r>
            <a:r>
              <a:rPr lang="zh-CN" altLang="en-US" sz="1400" dirty="0"/>
              <a:t>用量）；</a:t>
            </a:r>
          </a:p>
          <a:p>
            <a:pPr lvl="1">
              <a:lnSpc>
                <a:spcPct val="110000"/>
              </a:lnSpc>
              <a:spcBef>
                <a:spcPts val="800"/>
              </a:spcBef>
            </a:pPr>
            <a:r>
              <a:rPr lang="en-US" altLang="zh-CN" sz="1400" dirty="0"/>
              <a:t>2</a:t>
            </a:r>
            <a:r>
              <a:rPr lang="zh-CN" altLang="en-US" sz="1400" dirty="0"/>
              <a:t>、高压线缆（接电源端）：</a:t>
            </a:r>
            <a:r>
              <a:rPr lang="en-US" altLang="zh-CN" sz="1400" dirty="0"/>
              <a:t>61</a:t>
            </a:r>
            <a:r>
              <a:rPr lang="zh-CN" altLang="en-US" sz="1400" dirty="0"/>
              <a:t>根（合计</a:t>
            </a:r>
            <a:r>
              <a:rPr lang="en-US" altLang="zh-CN" sz="1400" dirty="0"/>
              <a:t>1464</a:t>
            </a:r>
            <a:r>
              <a:rPr lang="zh-CN" altLang="en-US" sz="1400" dirty="0"/>
              <a:t>块</a:t>
            </a:r>
            <a:r>
              <a:rPr lang="en-US" altLang="zh-CN" sz="1400" dirty="0"/>
              <a:t>RPC</a:t>
            </a:r>
            <a:r>
              <a:rPr lang="zh-CN" altLang="en-US" sz="1400" dirty="0"/>
              <a:t>用量）；约</a:t>
            </a:r>
            <a:r>
              <a:rPr lang="en-US" altLang="zh-CN" sz="1400" dirty="0"/>
              <a:t>40</a:t>
            </a:r>
            <a:r>
              <a:rPr lang="zh-CN" altLang="en-US" sz="1400" dirty="0"/>
              <a:t>米每根</a:t>
            </a:r>
          </a:p>
          <a:p>
            <a:pPr lvl="1">
              <a:lnSpc>
                <a:spcPct val="110000"/>
              </a:lnSpc>
              <a:spcBef>
                <a:spcPts val="800"/>
              </a:spcBef>
            </a:pPr>
            <a:r>
              <a:rPr lang="en-US" altLang="zh-CN" sz="1400" dirty="0"/>
              <a:t>3</a:t>
            </a:r>
            <a:r>
              <a:rPr lang="zh-CN" altLang="en-US" sz="1400" dirty="0"/>
              <a:t>、高压分配器盒子：</a:t>
            </a:r>
            <a:r>
              <a:rPr lang="en-US" altLang="zh-CN" sz="1400" dirty="0"/>
              <a:t>65</a:t>
            </a:r>
            <a:r>
              <a:rPr lang="zh-CN" altLang="en-US" sz="1400" dirty="0"/>
              <a:t>个（合计</a:t>
            </a:r>
            <a:r>
              <a:rPr lang="en-US" altLang="zh-CN" sz="1400" dirty="0"/>
              <a:t>1560</a:t>
            </a:r>
            <a:r>
              <a:rPr lang="zh-CN" altLang="en-US" sz="1400" dirty="0"/>
              <a:t>块</a:t>
            </a:r>
            <a:r>
              <a:rPr lang="en-US" altLang="zh-CN" sz="1400" dirty="0"/>
              <a:t>RPC</a:t>
            </a:r>
            <a:r>
              <a:rPr lang="zh-CN" altLang="en-US" sz="1400" dirty="0"/>
              <a:t>用量）；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需求：</a:t>
            </a:r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980</a:t>
            </a:r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根高压电缆</a:t>
            </a:r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</a:t>
            </a:r>
            <a:r>
              <a:rPr lang="en-US" altLang="zh-CN" sz="1400" dirty="0"/>
              <a:t>96</a:t>
            </a:r>
            <a:r>
              <a:rPr lang="zh-CN" altLang="en-US" sz="1400" dirty="0"/>
              <a:t>根</a:t>
            </a:r>
            <a:r>
              <a:rPr lang="en-US" altLang="zh-CN" sz="1400" dirty="0"/>
              <a:t>ARGO spider HV</a:t>
            </a:r>
            <a:r>
              <a:rPr lang="zh-CN" altLang="en-US" sz="1400" dirty="0"/>
              <a:t>线</a:t>
            </a:r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FCEB92DE-B3B8-429E-96F0-A729A1BE6A4D}"/>
              </a:ext>
            </a:extLst>
          </p:cNvPr>
          <p:cNvSpPr txBox="1">
            <a:spLocks/>
          </p:cNvSpPr>
          <p:nvPr/>
        </p:nvSpPr>
        <p:spPr>
          <a:xfrm>
            <a:off x="448757" y="2771775"/>
            <a:ext cx="8457118" cy="37052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zh-CN" altLang="en-US" sz="2000" dirty="0"/>
              <a:t>需要新作的配件：</a:t>
            </a:r>
            <a:r>
              <a:rPr lang="en-US" altLang="zh-CN" sz="1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3340-2000=1340</a:t>
            </a:r>
            <a:r>
              <a:rPr lang="zh-CN" altLang="en-US" sz="1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米高压电缆，</a:t>
            </a:r>
            <a:r>
              <a:rPr lang="en-US" altLang="zh-CN" sz="1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980</a:t>
            </a:r>
            <a:r>
              <a:rPr lang="zh-CN" altLang="en-US" sz="1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对高压接头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en-US" altLang="zh-CN" sz="2000" dirty="0"/>
              <a:t>80</a:t>
            </a:r>
            <a:r>
              <a:rPr lang="zh-CN" altLang="en-US" sz="2000" dirty="0"/>
              <a:t>根从</a:t>
            </a:r>
            <a:r>
              <a:rPr lang="en-US" altLang="zh-CN" sz="2000" dirty="0"/>
              <a:t>HV</a:t>
            </a:r>
            <a:r>
              <a:rPr lang="zh-CN" altLang="en-US" sz="2000" dirty="0"/>
              <a:t>电源端到高压分配盒的</a:t>
            </a:r>
            <a:r>
              <a:rPr lang="en-US" altLang="zh-CN" sz="2000" dirty="0"/>
              <a:t>HV</a:t>
            </a:r>
            <a:r>
              <a:rPr lang="zh-CN" altLang="en-US" sz="2000" dirty="0"/>
              <a:t>电缆，</a:t>
            </a:r>
            <a:endParaRPr lang="en-US" altLang="zh-CN" sz="2000" dirty="0"/>
          </a:p>
          <a:p>
            <a:pPr lvl="1">
              <a:lnSpc>
                <a:spcPct val="100000"/>
              </a:lnSpc>
              <a:spcBef>
                <a:spcPts val="800"/>
              </a:spcBef>
            </a:pPr>
            <a:r>
              <a:rPr lang="zh-CN" altLang="en-US" sz="1600" dirty="0"/>
              <a:t>一共设置四个</a:t>
            </a:r>
            <a:r>
              <a:rPr lang="en-US" altLang="zh-CN" sz="1600" dirty="0"/>
              <a:t>HV</a:t>
            </a:r>
            <a:r>
              <a:rPr lang="zh-CN" altLang="en-US" sz="1600" dirty="0"/>
              <a:t>机箱，每侧安装平台设置两台</a:t>
            </a:r>
            <a:r>
              <a:rPr lang="en-US" altLang="zh-CN" sz="1600" dirty="0"/>
              <a:t>HV</a:t>
            </a:r>
            <a:r>
              <a:rPr lang="zh-CN" altLang="en-US" sz="1600" dirty="0"/>
              <a:t>机箱，每个</a:t>
            </a:r>
            <a:r>
              <a:rPr lang="en-US" altLang="zh-CN" sz="1600" dirty="0"/>
              <a:t>HV</a:t>
            </a:r>
            <a:r>
              <a:rPr lang="zh-CN" altLang="en-US" sz="1600" dirty="0"/>
              <a:t>机箱</a:t>
            </a:r>
            <a:r>
              <a:rPr lang="en-US" altLang="zh-CN" sz="1600" dirty="0"/>
              <a:t>20</a:t>
            </a:r>
            <a:r>
              <a:rPr lang="zh-CN" altLang="en-US" sz="1600" dirty="0"/>
              <a:t>道独立</a:t>
            </a:r>
            <a:r>
              <a:rPr lang="en-US" altLang="zh-CN" sz="1600" dirty="0"/>
              <a:t>HV</a:t>
            </a:r>
            <a:r>
              <a:rPr lang="zh-CN" altLang="en-US" sz="1600" dirty="0"/>
              <a:t>电源输出，</a:t>
            </a:r>
            <a:endParaRPr lang="en-US" altLang="zh-CN" sz="1600" dirty="0"/>
          </a:p>
          <a:p>
            <a:pPr lvl="1">
              <a:lnSpc>
                <a:spcPct val="100000"/>
              </a:lnSpc>
              <a:spcBef>
                <a:spcPts val="800"/>
              </a:spcBef>
            </a:pPr>
            <a:r>
              <a:rPr lang="zh-CN" altLang="en-US" sz="1600" dirty="0"/>
              <a:t>每层高压电缆长度：</a:t>
            </a:r>
            <a:r>
              <a:rPr lang="en-US" altLang="zh-CN" sz="1600" dirty="0"/>
              <a:t>2*</a:t>
            </a:r>
            <a:r>
              <a:rPr lang="zh-CN" altLang="en-US" sz="1600" dirty="0"/>
              <a:t>（</a:t>
            </a:r>
            <a:r>
              <a:rPr lang="en-US" altLang="zh-CN" sz="1600" dirty="0"/>
              <a:t>2m+9m+21m+9m </a:t>
            </a:r>
            <a:r>
              <a:rPr lang="zh-CN" altLang="en-US" sz="1600" dirty="0"/>
              <a:t>），一共</a:t>
            </a:r>
            <a:r>
              <a:rPr lang="en-US" altLang="zh-CN" sz="1600" dirty="0"/>
              <a:t> 10</a:t>
            </a:r>
            <a:r>
              <a:rPr lang="zh-CN" altLang="en-US" sz="1600" dirty="0"/>
              <a:t>组，计</a:t>
            </a:r>
            <a:r>
              <a:rPr lang="en-US" altLang="zh-CN" sz="1600" dirty="0"/>
              <a:t>820</a:t>
            </a:r>
            <a:r>
              <a:rPr lang="zh-CN" altLang="en-US" sz="1600" dirty="0"/>
              <a:t>米。</a:t>
            </a:r>
            <a:endParaRPr lang="en-US" altLang="zh-CN" sz="1600" dirty="0"/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en-US" altLang="zh-CN" sz="2000" dirty="0"/>
              <a:t>900</a:t>
            </a:r>
            <a:r>
              <a:rPr lang="zh-CN" altLang="en-US" sz="2000" dirty="0"/>
              <a:t>根（</a:t>
            </a:r>
            <a:r>
              <a:rPr lang="en-US" altLang="zh-CN" sz="2000" dirty="0"/>
              <a:t>RPC</a:t>
            </a:r>
            <a:r>
              <a:rPr lang="zh-CN" altLang="en-US" sz="2000" dirty="0"/>
              <a:t>数量）从</a:t>
            </a:r>
            <a:r>
              <a:rPr lang="en-US" altLang="zh-CN" sz="2000" dirty="0"/>
              <a:t>spider HV</a:t>
            </a:r>
            <a:r>
              <a:rPr lang="zh-CN" altLang="en-US" sz="2000" dirty="0"/>
              <a:t>线到</a:t>
            </a:r>
            <a:r>
              <a:rPr lang="en-US" altLang="zh-CN" sz="2000" dirty="0"/>
              <a:t>RPC</a:t>
            </a:r>
            <a:r>
              <a:rPr lang="zh-CN" altLang="en-US" sz="2000" dirty="0"/>
              <a:t>的</a:t>
            </a:r>
            <a:r>
              <a:rPr lang="en-US" altLang="zh-CN" sz="2000" dirty="0"/>
              <a:t>HV</a:t>
            </a:r>
            <a:r>
              <a:rPr lang="zh-CN" altLang="en-US" sz="2000" dirty="0"/>
              <a:t>电缆，</a:t>
            </a:r>
            <a:endParaRPr lang="en-US" altLang="zh-CN" sz="2000" dirty="0"/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en-US" altLang="zh-CN" sz="2000" dirty="0"/>
              <a:t>HV</a:t>
            </a:r>
            <a:r>
              <a:rPr lang="zh-CN" altLang="en-US" sz="2000" dirty="0"/>
              <a:t>电缆数量</a:t>
            </a:r>
            <a:r>
              <a:rPr lang="en-US" altLang="zh-CN" sz="2000" dirty="0"/>
              <a:t>-</a:t>
            </a:r>
            <a:r>
              <a:rPr lang="zh-CN" altLang="en-US" sz="2000" dirty="0"/>
              <a:t>长度，</a:t>
            </a:r>
            <a:endParaRPr lang="en-US" altLang="zh-CN" sz="2000" dirty="0"/>
          </a:p>
          <a:p>
            <a:pPr lvl="1">
              <a:lnSpc>
                <a:spcPct val="100000"/>
              </a:lnSpc>
              <a:spcBef>
                <a:spcPts val="800"/>
              </a:spcBef>
            </a:pPr>
            <a:r>
              <a:rPr lang="zh-CN" altLang="en-US" sz="1600" dirty="0"/>
              <a:t>横排</a:t>
            </a:r>
            <a:r>
              <a:rPr lang="en-US" altLang="zh-CN" sz="1600" dirty="0"/>
              <a:t>/</a:t>
            </a:r>
            <a:r>
              <a:rPr lang="zh-CN" altLang="en-US" sz="1600" dirty="0"/>
              <a:t>单数层：</a:t>
            </a:r>
            <a:r>
              <a:rPr lang="en-US" altLang="zh-CN" sz="1600" dirty="0"/>
              <a:t>14*1.5m +13*2.75m +13*4m +12*5.25m +11*5.25m +10*4m +8* 2.75m +6*1.5m </a:t>
            </a:r>
            <a:r>
              <a:rPr lang="zh-CN" altLang="en-US" sz="1600" dirty="0"/>
              <a:t>，一共</a:t>
            </a:r>
            <a:r>
              <a:rPr lang="en-US" altLang="zh-CN" sz="1600" dirty="0"/>
              <a:t>6</a:t>
            </a:r>
            <a:r>
              <a:rPr lang="zh-CN" altLang="en-US" sz="1600" dirty="0"/>
              <a:t>组，计</a:t>
            </a:r>
            <a:r>
              <a:rPr lang="en-US" altLang="zh-CN" sz="1600" dirty="0"/>
              <a:t>1800</a:t>
            </a:r>
            <a:r>
              <a:rPr lang="zh-CN" altLang="en-US" sz="1600" dirty="0"/>
              <a:t>米</a:t>
            </a:r>
            <a:endParaRPr lang="en-US" altLang="zh-CN" sz="1600" dirty="0"/>
          </a:p>
          <a:p>
            <a:pPr lvl="1">
              <a:lnSpc>
                <a:spcPct val="100000"/>
              </a:lnSpc>
              <a:spcBef>
                <a:spcPts val="800"/>
              </a:spcBef>
            </a:pPr>
            <a:r>
              <a:rPr lang="zh-CN" altLang="en-US" sz="1600" dirty="0"/>
              <a:t>竖排</a:t>
            </a:r>
            <a:r>
              <a:rPr lang="en-US" altLang="zh-CN" sz="1600" dirty="0"/>
              <a:t>/</a:t>
            </a:r>
            <a:r>
              <a:rPr lang="zh-CN" altLang="en-US" sz="1600" dirty="0"/>
              <a:t>双数层：</a:t>
            </a:r>
            <a:r>
              <a:rPr lang="en-US" altLang="zh-CN" sz="1600" dirty="0"/>
              <a:t>30*0.5m +27*3.4m +21*3.4m +6*0.5m</a:t>
            </a:r>
            <a:r>
              <a:rPr lang="zh-CN" altLang="en-US" sz="1600" dirty="0"/>
              <a:t>，一共</a:t>
            </a:r>
            <a:r>
              <a:rPr lang="en-US" altLang="zh-CN" sz="1600" dirty="0"/>
              <a:t>4</a:t>
            </a:r>
            <a:r>
              <a:rPr lang="zh-CN" altLang="en-US" sz="1600" dirty="0"/>
              <a:t>组，计</a:t>
            </a:r>
            <a:r>
              <a:rPr lang="en-US" altLang="zh-CN" sz="1600" dirty="0"/>
              <a:t>720</a:t>
            </a:r>
            <a:r>
              <a:rPr lang="zh-CN" altLang="en-US" sz="1600" dirty="0"/>
              <a:t>米。</a:t>
            </a:r>
            <a:endParaRPr lang="en-US" altLang="zh-CN" sz="1600" dirty="0"/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00454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9DE73B-7461-4B4C-A04B-2D2B15528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1294"/>
            <a:ext cx="7886700" cy="547932"/>
          </a:xfrm>
        </p:spPr>
        <p:txBody>
          <a:bodyPr>
            <a:noAutofit/>
          </a:bodyPr>
          <a:lstStyle/>
          <a:p>
            <a:pPr algn="ctr"/>
            <a:r>
              <a:rPr lang="en-US" altLang="zh-CN" sz="3200" dirty="0"/>
              <a:t>HV</a:t>
            </a:r>
            <a:r>
              <a:rPr lang="zh-CN" altLang="en-US" sz="3200" dirty="0"/>
              <a:t>电缆长度数量计算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C5B9223-9B7E-4529-8DC0-70A0FEC4C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725215"/>
            <a:ext cx="7886700" cy="601060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97800E3-6A32-408E-B618-5D18A6639A65}"/>
              </a:ext>
            </a:extLst>
          </p:cNvPr>
          <p:cNvSpPr/>
          <p:nvPr/>
        </p:nvSpPr>
        <p:spPr>
          <a:xfrm>
            <a:off x="628650" y="725215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单数层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722728-448C-4384-A788-39BF43621D10}"/>
              </a:ext>
            </a:extLst>
          </p:cNvPr>
          <p:cNvSpPr/>
          <p:nvPr/>
        </p:nvSpPr>
        <p:spPr>
          <a:xfrm>
            <a:off x="628650" y="375957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双数层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00443D-52F2-475B-80CA-9BCE1C21C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D792-58C9-403D-A7B7-7B01A833D71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333200-B79F-46B4-898E-1EFC841933E0}"/>
              </a:ext>
            </a:extLst>
          </p:cNvPr>
          <p:cNvSpPr/>
          <p:nvPr/>
        </p:nvSpPr>
        <p:spPr>
          <a:xfrm>
            <a:off x="66676" y="3296952"/>
            <a:ext cx="87534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HV</a:t>
            </a:r>
            <a:r>
              <a:rPr lang="zh-CN" altLang="en-US" dirty="0">
                <a:highlight>
                  <a:srgbClr val="FFFF00"/>
                </a:highlight>
              </a:rPr>
              <a:t>电缆长度：14*1.5</a:t>
            </a:r>
            <a:r>
              <a:rPr lang="en-US" altLang="zh-CN" dirty="0">
                <a:highlight>
                  <a:srgbClr val="FFFF00"/>
                </a:highlight>
              </a:rPr>
              <a:t>m</a:t>
            </a:r>
            <a:r>
              <a:rPr lang="zh-CN" altLang="en-US" dirty="0">
                <a:highlight>
                  <a:srgbClr val="FFFF00"/>
                </a:highlight>
              </a:rPr>
              <a:t> +13*2.75 +13*4 +12*5.25 +11*5.25 +10*4 +8* 2.75 +6*1.5 = 300m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BDA5F4-67D9-4C32-B590-23794485B7EC}"/>
              </a:ext>
            </a:extLst>
          </p:cNvPr>
          <p:cNvSpPr/>
          <p:nvPr/>
        </p:nvSpPr>
        <p:spPr>
          <a:xfrm>
            <a:off x="190499" y="6242447"/>
            <a:ext cx="86296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HV</a:t>
            </a:r>
            <a:r>
              <a:rPr lang="zh-CN" altLang="en-US" dirty="0">
                <a:highlight>
                  <a:srgbClr val="FFFF00"/>
                </a:highlight>
              </a:rPr>
              <a:t>电缆长度：</a:t>
            </a:r>
            <a:r>
              <a:rPr lang="en-US" altLang="zh-CN" dirty="0">
                <a:highlight>
                  <a:srgbClr val="FFFF00"/>
                </a:highlight>
              </a:rPr>
              <a:t>30*0.5m +27*3.4 +21*3.4 +6*0.5 =181m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4D8660E-8FA2-4E9D-AB42-393E433097BE}"/>
              </a:ext>
            </a:extLst>
          </p:cNvPr>
          <p:cNvSpPr txBox="1"/>
          <p:nvPr/>
        </p:nvSpPr>
        <p:spPr>
          <a:xfrm>
            <a:off x="5072931" y="2762532"/>
            <a:ext cx="9819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highlight>
                  <a:srgbClr val="00FF00"/>
                </a:highlight>
              </a:rPr>
              <a:t>HV</a:t>
            </a:r>
            <a:r>
              <a:rPr lang="zh-CN" altLang="en-US" sz="1400" b="1" dirty="0">
                <a:solidFill>
                  <a:srgbClr val="FF0000"/>
                </a:solidFill>
                <a:highlight>
                  <a:srgbClr val="00FF00"/>
                </a:highlight>
              </a:rPr>
              <a:t>机箱</a:t>
            </a:r>
            <a:r>
              <a:rPr lang="en-US" altLang="zh-CN" sz="1400" b="1" dirty="0">
                <a:solidFill>
                  <a:srgbClr val="FF0000"/>
                </a:solidFill>
                <a:highlight>
                  <a:srgbClr val="00FF00"/>
                </a:highlight>
              </a:rPr>
              <a:t>2</a:t>
            </a:r>
            <a:endParaRPr lang="zh-CN" altLang="en-US" sz="1400" b="1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35E502C-9C43-425B-821E-648FE95243C5}"/>
              </a:ext>
            </a:extLst>
          </p:cNvPr>
          <p:cNvSpPr txBox="1"/>
          <p:nvPr/>
        </p:nvSpPr>
        <p:spPr>
          <a:xfrm>
            <a:off x="4914902" y="691869"/>
            <a:ext cx="877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highlight>
                  <a:srgbClr val="00FF00"/>
                </a:highlight>
              </a:rPr>
              <a:t>HV</a:t>
            </a:r>
            <a:r>
              <a:rPr lang="zh-CN" altLang="en-US" sz="1400" b="1" dirty="0">
                <a:solidFill>
                  <a:srgbClr val="FF0000"/>
                </a:solidFill>
                <a:highlight>
                  <a:srgbClr val="00FF00"/>
                </a:highlight>
              </a:rPr>
              <a:t>机箱</a:t>
            </a:r>
            <a:r>
              <a:rPr lang="en-US" altLang="zh-CN" sz="1400" b="1" dirty="0">
                <a:solidFill>
                  <a:srgbClr val="FF0000"/>
                </a:solidFill>
                <a:highlight>
                  <a:srgbClr val="00FF00"/>
                </a:highlight>
              </a:rPr>
              <a:t>1</a:t>
            </a:r>
            <a:endParaRPr lang="zh-CN" altLang="en-US" sz="1400" b="1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7DD6A38-E667-408D-ABAE-BB7F265316FD}"/>
              </a:ext>
            </a:extLst>
          </p:cNvPr>
          <p:cNvSpPr txBox="1"/>
          <p:nvPr/>
        </p:nvSpPr>
        <p:spPr>
          <a:xfrm>
            <a:off x="4686304" y="5734842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highlight>
                  <a:srgbClr val="00FF00"/>
                </a:highlight>
              </a:rPr>
              <a:t>HV</a:t>
            </a:r>
            <a:r>
              <a:rPr lang="zh-CN" altLang="en-US" sz="1400" b="1" dirty="0">
                <a:solidFill>
                  <a:srgbClr val="FF0000"/>
                </a:solidFill>
                <a:highlight>
                  <a:srgbClr val="00FF00"/>
                </a:highlight>
              </a:rPr>
              <a:t>机箱</a:t>
            </a:r>
            <a:r>
              <a:rPr lang="en-US" altLang="zh-CN" sz="1400" b="1" dirty="0">
                <a:solidFill>
                  <a:srgbClr val="FF0000"/>
                </a:solidFill>
                <a:highlight>
                  <a:srgbClr val="00FF00"/>
                </a:highlight>
              </a:rPr>
              <a:t>3</a:t>
            </a:r>
            <a:endParaRPr lang="zh-CN" altLang="en-US" sz="1400" b="1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3A27674-CAE5-4658-BF4D-C88FD4DDA788}"/>
              </a:ext>
            </a:extLst>
          </p:cNvPr>
          <p:cNvSpPr txBox="1"/>
          <p:nvPr/>
        </p:nvSpPr>
        <p:spPr>
          <a:xfrm>
            <a:off x="4697129" y="3655417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highlight>
                  <a:srgbClr val="00FF00"/>
                </a:highlight>
              </a:rPr>
              <a:t>HV</a:t>
            </a:r>
            <a:r>
              <a:rPr lang="zh-CN" altLang="en-US" sz="1400" b="1" dirty="0">
                <a:solidFill>
                  <a:srgbClr val="FF0000"/>
                </a:solidFill>
                <a:highlight>
                  <a:srgbClr val="00FF00"/>
                </a:highlight>
              </a:rPr>
              <a:t>机箱</a:t>
            </a:r>
            <a:r>
              <a:rPr lang="en-US" altLang="zh-CN" sz="1400" b="1" dirty="0">
                <a:solidFill>
                  <a:srgbClr val="FF0000"/>
                </a:solidFill>
                <a:highlight>
                  <a:srgbClr val="00FF00"/>
                </a:highlight>
              </a:rPr>
              <a:t>4</a:t>
            </a:r>
            <a:endParaRPr lang="zh-CN" altLang="en-US" sz="1400" b="1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93629970"/>
      </p:ext>
    </p:extLst>
  </p:cSld>
  <p:clrMapOvr>
    <a:masterClrMapping/>
  </p:clrMapOvr>
</p:sld>
</file>

<file path=ppt/theme/theme1.xml><?xml version="1.0" encoding="utf-8"?>
<a:theme xmlns:a="http://schemas.openxmlformats.org/drawingml/2006/main" name="43大小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3大小" id="{AC5093D5-0948-4021-A26C-FFC1FEABC60C}" vid="{FCDFCBC5-882D-4481-8A28-949F093A36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516</Words>
  <Application>Microsoft Office PowerPoint</Application>
  <PresentationFormat>全屏显示(4:3)</PresentationFormat>
  <Paragraphs>33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Calibri Light</vt:lpstr>
      <vt:lpstr>43大小</vt:lpstr>
      <vt:lpstr>确认RPC安装的一些细节</vt:lpstr>
      <vt:lpstr>气体和高压分配</vt:lpstr>
      <vt:lpstr>HV相关存货及新需求数量</vt:lpstr>
      <vt:lpstr>HV电缆长度数量计算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确认RPC安装的一些细节</dc:title>
  <dc:creator>dream</dc:creator>
  <cp:lastModifiedBy>dream</cp:lastModifiedBy>
  <cp:revision>1</cp:revision>
  <dcterms:created xsi:type="dcterms:W3CDTF">2025-11-28T07:50:14Z</dcterms:created>
  <dcterms:modified xsi:type="dcterms:W3CDTF">2025-11-28T07:51:06Z</dcterms:modified>
</cp:coreProperties>
</file>