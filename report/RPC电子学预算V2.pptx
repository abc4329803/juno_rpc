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3" r:id="rId5"/>
    <p:sldId id="262" r:id="rId6"/>
    <p:sldId id="258" r:id="rId7"/>
    <p:sldId id="266" r:id="rId8"/>
    <p:sldId id="265" r:id="rId9"/>
    <p:sldId id="175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>
      <p:ext uri="{19B8F6BF-5375-455C-9EA6-DF929625EA0E}">
        <p15:presenceInfo xmlns:p15="http://schemas.microsoft.com/office/powerpoint/2012/main" userId="135593c22d12fa7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4048A-092A-467A-A5E3-EA3536C180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D031F63-67B0-4BFE-B3EE-B027ADC23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744B03-11FE-4EA4-8829-4C00CFA97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026C60-6C07-4517-9357-D4873B801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18E173-1C35-4D16-8E17-D0F098ED2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472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45897F-E377-4410-8C1D-1E4BE224D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E73F5E-5B86-47A4-9429-E284EEA5C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763026-DFEA-48F0-A9E3-51D1BBEFD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BAD106-A0EE-44AA-9409-03E9E4A4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39787F-320F-4DAC-8E19-C47B6A801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170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13D0F9-2256-42BA-9ACB-D146220C8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2847DE-BE47-4E82-BAA7-143473F57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13879F-8315-4276-ADEE-9239F0E10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511A15-6091-43CD-A4FF-07AEE3DB0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8715C0-8A16-4C91-839E-6278DC168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63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73BCD0-066D-4364-9718-5FC55DEDB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DF1B44-610A-449F-A61A-5626EF305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96A4A41-F30A-4059-A36E-444E46561C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1C23BA-B5C6-42D7-8DE3-BB8B7B7D6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E408A6-39DC-450A-9B03-6F6EE26AC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BFFD2A-10A0-4EAD-8E8E-9A4868879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626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15A4E7-57A0-4E31-95CA-9C7415ED6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D1DDAD-B06E-41C0-A434-F0C95B18A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9B5B18-6290-47CB-BF56-02A2D4D32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FF6D90C-D225-4DF8-B6E4-CF8A9CBAA3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DDFD79-BF2E-4B09-9F7E-F6A3515961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BAA2C16-C1D9-47D0-8809-A64A2EA4F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6094B44-E2A3-4E5C-9448-E5CB35818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124948C-D449-4384-97CC-CAE108E4F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951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4BFB6F-BFC5-4282-8955-2463BAA5B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2249CF-43C3-4DC1-BB08-F1941110A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CF0F9B8-96B3-405C-B351-FD24190A9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F2EF1C3-CB46-4509-A20F-AF4A85871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03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6548C45-8D3C-4E9C-87D8-2254A2D49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3DC68F1-28E1-4CF0-8FA6-7BDDB6D99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5726F5-E6FF-46B1-8F1F-230091FE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326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594F3F-3C85-4538-AC4E-750665488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9261D6-AC0B-4FA3-9A0A-66C615E23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50EEA8-72E5-476B-9D5C-116C26DDE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7B072C-E4CA-402F-8CE3-ED247AB34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BA48DD-CAFC-4DFA-98B8-A5B733051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146CBD-C61A-49A0-B840-27A5BD0C6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185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92D185-8F41-4506-9710-138AEE202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43F51D7-DE9C-4D44-8B43-B1573A0469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EEF09B-1252-4F5B-B0E1-DCA4B226B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13E847-79A0-4A5A-8517-2767CC59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FD7548-AF16-4E36-AA14-B06F752C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6FC5BE-8E99-4EA4-9419-69ACAAF08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82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5694D9-3F9A-4B26-BF0F-DCA713600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871755-4150-4070-BB1F-42405FA8E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3BAD37-C5BC-490F-96F6-B2AECC770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CF98C7-739C-4072-82C8-05AF001D0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F3A288-1306-481A-8D67-258149B1E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30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3F71F7B-D8EF-453F-8C30-120F36A214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A9FBD2-6D93-4217-BF4D-DEA038D37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12C7CE-685F-40BB-83C6-E3FD1BF37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85A06A-2084-44D9-939C-29017A059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6EF78-D3AF-4B16-AAFC-2B88D82F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858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79EF56D-AD0D-4C74-97F5-4422020EF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37D867-A870-4C0F-8BA0-D8E2781DF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811854-44B2-4BEA-B8A6-6C15CAE3D6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700F1-1039-4720-B838-11ABAF9BA1A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F0F8A9-9CD5-465B-AC23-8D204FEF28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1B617C-7798-4879-A266-EFD97F1B3A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56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1E11D4-2DD5-4639-A40D-A46310B34C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RPC</a:t>
            </a:r>
            <a:r>
              <a:rPr lang="zh-CN" altLang="en-US" dirty="0"/>
              <a:t>电子学预算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D46976C-AE34-45FC-BF82-089381D6D0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报告人：宁哲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032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3D2A85-82D4-400D-9FA1-445020D66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</a:t>
            </a:r>
            <a:endParaRPr 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94380B7-B4AF-48CA-BBF4-BB381CBAF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875610"/>
              </p:ext>
            </p:extLst>
          </p:nvPr>
        </p:nvGraphicFramePr>
        <p:xfrm>
          <a:off x="952500" y="1947333"/>
          <a:ext cx="102870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041">
                  <a:extLst>
                    <a:ext uri="{9D8B030D-6E8A-4147-A177-3AD203B41FA5}">
                      <a16:colId xmlns:a16="http://schemas.microsoft.com/office/drawing/2014/main" val="1777503670"/>
                    </a:ext>
                  </a:extLst>
                </a:gridCol>
                <a:gridCol w="1401961">
                  <a:extLst>
                    <a:ext uri="{9D8B030D-6E8A-4147-A177-3AD203B41FA5}">
                      <a16:colId xmlns:a16="http://schemas.microsoft.com/office/drawing/2014/main" val="4234229478"/>
                    </a:ext>
                  </a:extLst>
                </a:gridCol>
                <a:gridCol w="1223431">
                  <a:extLst>
                    <a:ext uri="{9D8B030D-6E8A-4147-A177-3AD203B41FA5}">
                      <a16:colId xmlns:a16="http://schemas.microsoft.com/office/drawing/2014/main" val="3609267965"/>
                    </a:ext>
                  </a:extLst>
                </a:gridCol>
                <a:gridCol w="1756007">
                  <a:extLst>
                    <a:ext uri="{9D8B030D-6E8A-4147-A177-3AD203B41FA5}">
                      <a16:colId xmlns:a16="http://schemas.microsoft.com/office/drawing/2014/main" val="2163024782"/>
                    </a:ext>
                  </a:extLst>
                </a:gridCol>
                <a:gridCol w="1816004">
                  <a:extLst>
                    <a:ext uri="{9D8B030D-6E8A-4147-A177-3AD203B41FA5}">
                      <a16:colId xmlns:a16="http://schemas.microsoft.com/office/drawing/2014/main" val="3164767798"/>
                    </a:ext>
                  </a:extLst>
                </a:gridCol>
                <a:gridCol w="2062556">
                  <a:extLst>
                    <a:ext uri="{9D8B030D-6E8A-4147-A177-3AD203B41FA5}">
                      <a16:colId xmlns:a16="http://schemas.microsoft.com/office/drawing/2014/main" val="18301083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RPC</a:t>
                      </a:r>
                      <a:r>
                        <a:rPr lang="zh-CN" altLang="en-US" dirty="0"/>
                        <a:t>总数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每层每区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电子学机柜</a:t>
                      </a:r>
                      <a:endParaRPr lang="en-US" altLang="zh-CN" dirty="0"/>
                    </a:p>
                    <a:p>
                      <a:r>
                        <a:rPr lang="zh-CN" altLang="en-US" dirty="0"/>
                        <a:t>（对应</a:t>
                      </a:r>
                      <a:r>
                        <a:rPr lang="en-US" altLang="zh-CN" dirty="0"/>
                        <a:t>16</a:t>
                      </a:r>
                      <a:r>
                        <a:rPr lang="zh-CN" altLang="en-US" dirty="0"/>
                        <a:t>个区）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每个机柜机箱数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计划生产</a:t>
                      </a:r>
                      <a:r>
                        <a:rPr lang="en-US" altLang="zh-CN" dirty="0"/>
                        <a:t>TDC</a:t>
                      </a:r>
                      <a:r>
                        <a:rPr lang="zh-CN" altLang="en-US" dirty="0"/>
                        <a:t>板（约</a:t>
                      </a:r>
                      <a:r>
                        <a:rPr lang="en-US" altLang="zh-CN" dirty="0"/>
                        <a:t>15%</a:t>
                      </a:r>
                      <a:r>
                        <a:rPr lang="zh-CN" altLang="en-US" dirty="0"/>
                        <a:t>冗余）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593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之前</a:t>
                      </a:r>
                      <a:r>
                        <a:rPr lang="en-US" altLang="zh-CN" dirty="0"/>
                        <a:t>6</a:t>
                      </a:r>
                      <a:r>
                        <a:rPr lang="zh-CN" altLang="en-US" dirty="0"/>
                        <a:t>层</a:t>
                      </a:r>
                      <a:r>
                        <a:rPr lang="en-US" altLang="zh-CN" dirty="0"/>
                        <a:t>RPC</a:t>
                      </a:r>
                      <a:r>
                        <a:rPr lang="zh-CN" altLang="en-US" dirty="0"/>
                        <a:t>堆叠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r>
                        <a:rPr lang="en-US" altLang="zh-CN" dirty="0"/>
                        <a:t>x12=72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099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最新</a:t>
                      </a:r>
                      <a:r>
                        <a:rPr lang="en-US" altLang="zh-CN" dirty="0"/>
                        <a:t>5</a:t>
                      </a:r>
                      <a:r>
                        <a:rPr lang="zh-CN" altLang="en-US" dirty="0"/>
                        <a:t>层</a:t>
                      </a:r>
                      <a:r>
                        <a:rPr lang="en-US" altLang="zh-CN" dirty="0"/>
                        <a:t>RPC</a:t>
                      </a:r>
                      <a:r>
                        <a:rPr lang="zh-CN" altLang="en-US" dirty="0"/>
                        <a:t>堆叠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r>
                        <a:rPr lang="en-US" altLang="zh-CN" dirty="0"/>
                        <a:t>x12=60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188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2491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8F98D1-66F6-422B-86D3-290B62DF6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批量生产的预算</a:t>
            </a:r>
            <a:endParaRPr 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C3FCEE1B-8BF0-4321-B5B1-5E5D697E8E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4401741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59826869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120659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6947162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66340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名称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供应商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报价（元）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备注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766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线缆、机柜、机箱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安德远通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163661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469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电子学电源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湖南源光科技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  <a:r>
                        <a:rPr lang="zh-CN" altLang="en-US" dirty="0"/>
                        <a:t>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035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PCB</a:t>
                      </a:r>
                      <a:r>
                        <a:rPr lang="zh-CN" altLang="en-US" dirty="0"/>
                        <a:t>、焊接、元器件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苏州思普等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186530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722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小白兔和铠装光纤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清华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</a:t>
                      </a:r>
                      <a:r>
                        <a:rPr lang="zh-CN" altLang="en-US" dirty="0"/>
                        <a:t>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176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总价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504965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383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1004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E414FF-4B1A-429C-94F7-D04F938EF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电子学板卡</a:t>
            </a:r>
            <a:endParaRPr 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AF38CFC3-C2BD-4027-9075-A19E6EE64C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3167702"/>
              </p:ext>
            </p:extLst>
          </p:nvPr>
        </p:nvGraphicFramePr>
        <p:xfrm>
          <a:off x="838200" y="1825625"/>
          <a:ext cx="10591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726">
                  <a:extLst>
                    <a:ext uri="{9D8B030D-6E8A-4147-A177-3AD203B41FA5}">
                      <a16:colId xmlns:a16="http://schemas.microsoft.com/office/drawing/2014/main" val="2244617096"/>
                    </a:ext>
                  </a:extLst>
                </a:gridCol>
                <a:gridCol w="1459553">
                  <a:extLst>
                    <a:ext uri="{9D8B030D-6E8A-4147-A177-3AD203B41FA5}">
                      <a16:colId xmlns:a16="http://schemas.microsoft.com/office/drawing/2014/main" val="1500916453"/>
                    </a:ext>
                  </a:extLst>
                </a:gridCol>
                <a:gridCol w="3173523">
                  <a:extLst>
                    <a:ext uri="{9D8B030D-6E8A-4147-A177-3AD203B41FA5}">
                      <a16:colId xmlns:a16="http://schemas.microsoft.com/office/drawing/2014/main" val="2417673628"/>
                    </a:ext>
                  </a:extLst>
                </a:gridCol>
                <a:gridCol w="4275998">
                  <a:extLst>
                    <a:ext uri="{9D8B030D-6E8A-4147-A177-3AD203B41FA5}">
                      <a16:colId xmlns:a16="http://schemas.microsoft.com/office/drawing/2014/main" val="2704707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名称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数量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作用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丝印名字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40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TDC</a:t>
                      </a:r>
                      <a:r>
                        <a:rPr lang="zh-CN" altLang="en-US" dirty="0"/>
                        <a:t>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连接</a:t>
                      </a:r>
                      <a:r>
                        <a:rPr lang="en-US" altLang="zh-CN" dirty="0"/>
                        <a:t>RPC</a:t>
                      </a:r>
                      <a:r>
                        <a:rPr lang="zh-CN" altLang="en-US" dirty="0"/>
                        <a:t>，作为</a:t>
                      </a:r>
                      <a:r>
                        <a:rPr lang="en-US" altLang="zh-CN" dirty="0"/>
                        <a:t>TDC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JUNORPCFrontv3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849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中间板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一级汇总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JUNORPC6Cv3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316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末端板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二级汇总，</a:t>
                      </a:r>
                      <a:r>
                        <a:rPr lang="en-US" altLang="zh-CN" dirty="0"/>
                        <a:t>WR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JUNO RPC CDC WR v1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2106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260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8FE38-B972-4D36-8B04-2788D3B30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电缆规格（</a:t>
            </a:r>
            <a:r>
              <a:rPr lang="en-US" altLang="zh-CN" dirty="0"/>
              <a:t>16x12x5=960</a:t>
            </a:r>
            <a:r>
              <a:rPr lang="zh-CN" altLang="en-US" dirty="0"/>
              <a:t>）</a:t>
            </a:r>
            <a:endParaRPr 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2CE4D9F7-D0E8-4552-96A6-A244CA0884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3743712"/>
              </p:ext>
            </p:extLst>
          </p:nvPr>
        </p:nvGraphicFramePr>
        <p:xfrm>
          <a:off x="838200" y="1825625"/>
          <a:ext cx="10890739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148">
                  <a:extLst>
                    <a:ext uri="{9D8B030D-6E8A-4147-A177-3AD203B41FA5}">
                      <a16:colId xmlns:a16="http://schemas.microsoft.com/office/drawing/2014/main" val="2506374334"/>
                    </a:ext>
                  </a:extLst>
                </a:gridCol>
                <a:gridCol w="667629">
                  <a:extLst>
                    <a:ext uri="{9D8B030D-6E8A-4147-A177-3AD203B41FA5}">
                      <a16:colId xmlns:a16="http://schemas.microsoft.com/office/drawing/2014/main" val="155211461"/>
                    </a:ext>
                  </a:extLst>
                </a:gridCol>
                <a:gridCol w="5090746">
                  <a:extLst>
                    <a:ext uri="{9D8B030D-6E8A-4147-A177-3AD203B41FA5}">
                      <a16:colId xmlns:a16="http://schemas.microsoft.com/office/drawing/2014/main" val="117080509"/>
                    </a:ext>
                  </a:extLst>
                </a:gridCol>
                <a:gridCol w="776068">
                  <a:extLst>
                    <a:ext uri="{9D8B030D-6E8A-4147-A177-3AD203B41FA5}">
                      <a16:colId xmlns:a16="http://schemas.microsoft.com/office/drawing/2014/main" val="4192790215"/>
                    </a:ext>
                  </a:extLst>
                </a:gridCol>
                <a:gridCol w="2178148">
                  <a:extLst>
                    <a:ext uri="{9D8B030D-6E8A-4147-A177-3AD203B41FA5}">
                      <a16:colId xmlns:a16="http://schemas.microsoft.com/office/drawing/2014/main" val="17498055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名称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数量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备注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单位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作用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323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带全屏蔽的</a:t>
                      </a:r>
                      <a:r>
                        <a:rPr lang="en-US" dirty="0"/>
                        <a:t>6</a:t>
                      </a:r>
                      <a:r>
                        <a:rPr lang="zh-CN" altLang="en-US" dirty="0"/>
                        <a:t>类线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r>
                        <a:rPr lang="en-US" altLang="zh-CN" dirty="0"/>
                        <a:t>m</a:t>
                      </a:r>
                      <a:r>
                        <a:rPr lang="zh-CN" altLang="en-US" dirty="0"/>
                        <a:t>长，要求</a:t>
                      </a:r>
                      <a:r>
                        <a:rPr lang="en-US" altLang="zh-CN" dirty="0"/>
                        <a:t>4</a:t>
                      </a:r>
                      <a:r>
                        <a:rPr lang="zh-CN" altLang="en-US" dirty="0"/>
                        <a:t>对双绞线有个共同的屏蔽层，直连线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连接中间板和末端板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108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FPC</a:t>
                      </a:r>
                      <a:r>
                        <a:rPr lang="zh-CN" altLang="en-US" dirty="0"/>
                        <a:t>线缆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</a:t>
                      </a:r>
                      <a:r>
                        <a:rPr lang="zh-CN" altLang="en-US" dirty="0"/>
                        <a:t>针，双面屏蔽，反向，</a:t>
                      </a:r>
                      <a:r>
                        <a:rPr lang="en-US" altLang="zh-CN" dirty="0"/>
                        <a:t>30 cm</a:t>
                      </a:r>
                      <a:r>
                        <a:rPr lang="zh-CN" altLang="en-US" dirty="0"/>
                        <a:t>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连接</a:t>
                      </a:r>
                      <a:r>
                        <a:rPr lang="en-US" altLang="zh-CN" dirty="0"/>
                        <a:t>TDC</a:t>
                      </a:r>
                      <a:r>
                        <a:rPr lang="zh-CN" altLang="en-US" dirty="0"/>
                        <a:t>和中间板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102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电源线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2m</a:t>
                      </a:r>
                      <a:r>
                        <a:rPr lang="zh-CN" altLang="en-US" dirty="0"/>
                        <a:t>长，单端带绿色电源端子，每对双绞，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带屏蔽层</a:t>
                      </a:r>
                      <a:r>
                        <a:rPr lang="zh-CN" altLang="en-US" dirty="0"/>
                        <a:t>，</a:t>
                      </a:r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根一组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为中间板和</a:t>
                      </a:r>
                      <a:r>
                        <a:rPr lang="en-US" altLang="zh-CN" dirty="0"/>
                        <a:t>RPC</a:t>
                      </a:r>
                      <a:r>
                        <a:rPr lang="zh-CN" altLang="en-US" dirty="0"/>
                        <a:t>供电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33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同轴线</a:t>
                      </a:r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两端</a:t>
                      </a:r>
                      <a:r>
                        <a:rPr lang="en-US" altLang="zh-CN" dirty="0"/>
                        <a:t>SMA</a:t>
                      </a:r>
                      <a:r>
                        <a:rPr lang="zh-CN" altLang="en-US" dirty="0"/>
                        <a:t>，</a:t>
                      </a:r>
                      <a:r>
                        <a:rPr lang="en-US" altLang="zh-CN" dirty="0"/>
                        <a:t>2m</a:t>
                      </a:r>
                      <a:r>
                        <a:rPr lang="zh-CN" altLang="en-US" dirty="0"/>
                        <a:t>长，特氟龙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电子学通道刻度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428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同轴线</a:t>
                      </a:r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两端</a:t>
                      </a:r>
                      <a:r>
                        <a:rPr lang="en-US" altLang="zh-CN" dirty="0"/>
                        <a:t>SMA</a:t>
                      </a:r>
                      <a:r>
                        <a:rPr lang="zh-CN" altLang="en-US" dirty="0"/>
                        <a:t>，</a:t>
                      </a:r>
                      <a:r>
                        <a:rPr lang="en-US" altLang="zh-CN" dirty="0"/>
                        <a:t>10cm</a:t>
                      </a:r>
                      <a:r>
                        <a:rPr lang="zh-CN" altLang="en-US" dirty="0"/>
                        <a:t>长，特氟龙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电子学通道刻度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38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RPC</a:t>
                      </a:r>
                      <a:r>
                        <a:rPr lang="zh-CN" altLang="en-US" dirty="0"/>
                        <a:t>模块电源转接头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三芯线，</a:t>
                      </a:r>
                      <a:r>
                        <a:rPr lang="en-US" altLang="zh-CN" dirty="0"/>
                        <a:t>8 cm</a:t>
                      </a:r>
                      <a:r>
                        <a:rPr lang="zh-CN" altLang="en-US" dirty="0"/>
                        <a:t>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个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为</a:t>
                      </a:r>
                      <a:r>
                        <a:rPr lang="en-US" altLang="zh-CN" dirty="0"/>
                        <a:t>RPC</a:t>
                      </a:r>
                      <a:r>
                        <a:rPr lang="zh-CN" altLang="en-US" dirty="0"/>
                        <a:t>前端电子学提供电压和阈值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13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8185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FA5136-24A9-4B0C-AB6A-3364BDB7E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22B83B-2CC5-4888-8BAB-F266AA699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B090AC-5A45-4F9D-AA8A-005F0D74ECC5}"/>
              </a:ext>
            </a:extLst>
          </p:cNvPr>
          <p:cNvSpPr txBox="1"/>
          <p:nvPr/>
        </p:nvSpPr>
        <p:spPr>
          <a:xfrm>
            <a:off x="5284177" y="6374423"/>
            <a:ext cx="2593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安德远通报价</a:t>
            </a:r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45893D0-6210-49AD-89F2-DE1E21054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283" y="1369633"/>
            <a:ext cx="9383434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694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086C26-6295-48F8-9B09-444448775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9D74A0-8244-4586-BE98-D2B77FC4F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BA5D2A7-7036-4D24-8045-C706C2421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97" y="2595875"/>
            <a:ext cx="10964805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276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A3E68A-2302-49D1-9097-6E2AEE20D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23A95C-271D-4DFE-810D-84F4763FA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DE4FFB5-47AC-4993-8F03-EBD318A9F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912" y="691340"/>
            <a:ext cx="7182852" cy="580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141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4C3C3D1-3355-4135-B27D-6C1C4B096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48" y="218183"/>
            <a:ext cx="7886700" cy="636583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/>
              <a:t>确认</a:t>
            </a:r>
            <a:r>
              <a:rPr lang="en-US" altLang="zh-CN" dirty="0"/>
              <a:t>RPC</a:t>
            </a:r>
            <a:r>
              <a:rPr lang="zh-CN" altLang="en-US" dirty="0"/>
              <a:t>安装的一些细节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80931F4-8FE4-4A8D-93DF-FDE3D1028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2322" y="5098774"/>
            <a:ext cx="8547353" cy="1440761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zh-CN" altLang="en-US" sz="2000" dirty="0"/>
              <a:t>目前的设定要求制作和</a:t>
            </a:r>
            <a:r>
              <a:rPr lang="en-US" altLang="zh-CN" sz="2000" dirty="0"/>
              <a:t>RPC</a:t>
            </a:r>
            <a:r>
              <a:rPr lang="zh-CN" altLang="en-US" sz="2000" dirty="0"/>
              <a:t>数量类似的高压电缆，高压接头的定制费用较多，</a:t>
            </a:r>
            <a:endParaRPr lang="en-US" altLang="zh-CN" sz="2000" dirty="0"/>
          </a:p>
          <a:p>
            <a:pPr>
              <a:lnSpc>
                <a:spcPct val="110000"/>
              </a:lnSpc>
            </a:pPr>
            <a:r>
              <a:rPr lang="zh-CN" altLang="en-US" sz="2000" dirty="0"/>
              <a:t>安德远通的答复：</a:t>
            </a:r>
            <a:r>
              <a:rPr lang="en-US" altLang="zh-CN" sz="2000" dirty="0"/>
              <a:t>8000V</a:t>
            </a:r>
            <a:r>
              <a:rPr lang="zh-CN" altLang="en-US" sz="2000" dirty="0"/>
              <a:t>的高压线缆直接连接不能确保可靠性、稳定性；图中</a:t>
            </a:r>
            <a:r>
              <a:rPr lang="en-US" altLang="zh-CN" sz="2000" dirty="0"/>
              <a:t>spider</a:t>
            </a:r>
            <a:r>
              <a:rPr lang="zh-CN" altLang="en-US" sz="2000" dirty="0"/>
              <a:t>线的连接盒为注胶密封，拆开重新连接长的高压电缆人工费不便宜</a:t>
            </a:r>
            <a:endParaRPr lang="en-US" altLang="zh-CN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2431DC7-C479-4C63-B104-09E8B561E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87" y="964095"/>
            <a:ext cx="5791222" cy="413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797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1556</TotalTime>
  <Words>364</Words>
  <Application>Microsoft Office PowerPoint</Application>
  <PresentationFormat>宽屏</PresentationFormat>
  <Paragraphs>101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等线</vt:lpstr>
      <vt:lpstr>等线 Light</vt:lpstr>
      <vt:lpstr>Arial</vt:lpstr>
      <vt:lpstr>Calibri</vt:lpstr>
      <vt:lpstr>Calibri Light</vt:lpstr>
      <vt:lpstr>Office 主题​​</vt:lpstr>
      <vt:lpstr>RPC电子学预算</vt:lpstr>
      <vt:lpstr>背景</vt:lpstr>
      <vt:lpstr>批量生产的预算</vt:lpstr>
      <vt:lpstr>电子学板卡</vt:lpstr>
      <vt:lpstr>电缆规格（16x12x5=960）</vt:lpstr>
      <vt:lpstr>PowerPoint 演示文稿</vt:lpstr>
      <vt:lpstr>PowerPoint 演示文稿</vt:lpstr>
      <vt:lpstr>PowerPoint 演示文稿</vt:lpstr>
      <vt:lpstr>确认RPC安装的一些细节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RPC电子学预算</dc:title>
  <dc:creator>DELL</dc:creator>
  <cp:lastModifiedBy>DELL</cp:lastModifiedBy>
  <cp:revision>56</cp:revision>
  <dcterms:created xsi:type="dcterms:W3CDTF">2025-12-01T01:31:05Z</dcterms:created>
  <dcterms:modified xsi:type="dcterms:W3CDTF">2025-12-02T05:03:19Z</dcterms:modified>
</cp:coreProperties>
</file>