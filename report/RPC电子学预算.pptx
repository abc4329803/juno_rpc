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3" r:id="rId5"/>
    <p:sldId id="262" r:id="rId6"/>
    <p:sldId id="258" r:id="rId7"/>
    <p:sldId id="266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135593c22d12fa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3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048A-092A-467A-A5E3-EA3536C18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031F63-67B0-4BFE-B3EE-B027ADC23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744B03-11FE-4EA4-8829-4C00CFA9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026C60-6C07-4517-9357-D4873B80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18E173-1C35-4D16-8E17-D0F098ED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7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5897F-E377-4410-8C1D-1E4BE224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73F5E-5B86-47A4-9429-E284EEA5C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763026-DFEA-48F0-A9E3-51D1BBEF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BAD106-A0EE-44AA-9409-03E9E4A4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9787F-320F-4DAC-8E19-C47B6A80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7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3D0F9-2256-42BA-9ACB-D146220C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2847DE-BE47-4E82-BAA7-143473F57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3879F-8315-4276-ADEE-9239F0E1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511A15-6091-43CD-A4FF-07AEE3DB0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8715C0-8A16-4C91-839E-6278DC168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6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73BCD0-066D-4364-9718-5FC55DED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F1B44-610A-449F-A61A-5626EF305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6A4A41-F30A-4059-A36E-444E46561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1C23BA-B5C6-42D7-8DE3-BB8B7B7D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E408A6-39DC-450A-9B03-6F6EE26A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BFFD2A-10A0-4EAD-8E8E-9A486887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26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5A4E7-57A0-4E31-95CA-9C7415ED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D1DDAD-B06E-41C0-A434-F0C95B18A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9B5B18-6290-47CB-BF56-02A2D4D32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F6D90C-D225-4DF8-B6E4-CF8A9CBAA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DDFD79-BF2E-4B09-9F7E-F6A351596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AA2C16-C1D9-47D0-8809-A64A2EA4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094B44-E2A3-4E5C-9448-E5CB3581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24948C-D449-4384-97CC-CAE108E4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5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BFB6F-BFC5-4282-8955-2463BAA5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2249CF-43C3-4DC1-BB08-F1941110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F0F9B8-96B3-405C-B351-FD24190A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2EF1C3-CB46-4509-A20F-AF4A8587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548C45-8D3C-4E9C-87D8-2254A2D4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DC68F1-28E1-4CF0-8FA6-7BDDB6D9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5726F5-E6FF-46B1-8F1F-230091FE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2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94F3F-3C85-4538-AC4E-750665488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9261D6-AC0B-4FA3-9A0A-66C615E23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50EEA8-72E5-476B-9D5C-116C26DDE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7B072C-E4CA-402F-8CE3-ED247AB34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BA48DD-CAFC-4DFA-98B8-A5B733051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146CBD-C61A-49A0-B840-27A5BD0C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8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2D185-8F41-4506-9710-138AEE20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3F51D7-DE9C-4D44-8B43-B1573A046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EEF09B-1252-4F5B-B0E1-DCA4B226B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13E847-79A0-4A5A-8517-2767CC59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FD7548-AF16-4E36-AA14-B06F752C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6FC5BE-8E99-4EA4-9419-69ACAAF0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8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694D9-3F9A-4B26-BF0F-DCA71360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871755-4150-4070-BB1F-42405FA8E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3BAD37-C5BC-490F-96F6-B2AECC77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CF98C7-739C-4072-82C8-05AF001D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F3A288-1306-481A-8D67-258149B1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3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F71F7B-D8EF-453F-8C30-120F36A21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A9FBD2-6D93-4217-BF4D-DEA038D37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12C7CE-685F-40BB-83C6-E3FD1BF3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85A06A-2084-44D9-939C-29017A05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6EF78-D3AF-4B16-AAFC-2B88D82F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58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9EF56D-AD0D-4C74-97F5-4422020E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7D867-A870-4C0F-8BA0-D8E2781DF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11854-44B2-4BEA-B8A6-6C15CAE3D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700F1-1039-4720-B838-11ABAF9BA1A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F0F8A9-9CD5-465B-AC23-8D204FEF2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1B617C-7798-4879-A266-EFD97F1B3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6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E11D4-2DD5-4639-A40D-A46310B34C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RPC</a:t>
            </a:r>
            <a:r>
              <a:rPr lang="zh-CN" altLang="en-US" dirty="0"/>
              <a:t>电子学预算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46976C-AE34-45FC-BF82-089381D6D0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报告人：宁哲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032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3D2A85-82D4-400D-9FA1-445020D6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  <a:endParaRPr 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94380B7-B4AF-48CA-BBF4-BB381CBAF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875610"/>
              </p:ext>
            </p:extLst>
          </p:nvPr>
        </p:nvGraphicFramePr>
        <p:xfrm>
          <a:off x="952500" y="1947333"/>
          <a:ext cx="10287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041">
                  <a:extLst>
                    <a:ext uri="{9D8B030D-6E8A-4147-A177-3AD203B41FA5}">
                      <a16:colId xmlns:a16="http://schemas.microsoft.com/office/drawing/2014/main" val="1777503670"/>
                    </a:ext>
                  </a:extLst>
                </a:gridCol>
                <a:gridCol w="1401961">
                  <a:extLst>
                    <a:ext uri="{9D8B030D-6E8A-4147-A177-3AD203B41FA5}">
                      <a16:colId xmlns:a16="http://schemas.microsoft.com/office/drawing/2014/main" val="4234229478"/>
                    </a:ext>
                  </a:extLst>
                </a:gridCol>
                <a:gridCol w="1223431">
                  <a:extLst>
                    <a:ext uri="{9D8B030D-6E8A-4147-A177-3AD203B41FA5}">
                      <a16:colId xmlns:a16="http://schemas.microsoft.com/office/drawing/2014/main" val="3609267965"/>
                    </a:ext>
                  </a:extLst>
                </a:gridCol>
                <a:gridCol w="1756007">
                  <a:extLst>
                    <a:ext uri="{9D8B030D-6E8A-4147-A177-3AD203B41FA5}">
                      <a16:colId xmlns:a16="http://schemas.microsoft.com/office/drawing/2014/main" val="2163024782"/>
                    </a:ext>
                  </a:extLst>
                </a:gridCol>
                <a:gridCol w="1816004">
                  <a:extLst>
                    <a:ext uri="{9D8B030D-6E8A-4147-A177-3AD203B41FA5}">
                      <a16:colId xmlns:a16="http://schemas.microsoft.com/office/drawing/2014/main" val="3164767798"/>
                    </a:ext>
                  </a:extLst>
                </a:gridCol>
                <a:gridCol w="2062556">
                  <a:extLst>
                    <a:ext uri="{9D8B030D-6E8A-4147-A177-3AD203B41FA5}">
                      <a16:colId xmlns:a16="http://schemas.microsoft.com/office/drawing/2014/main" val="1830108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总数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每层每区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电子学机柜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（对应</a:t>
                      </a:r>
                      <a:r>
                        <a:rPr lang="en-US" altLang="zh-CN" dirty="0"/>
                        <a:t>16</a:t>
                      </a:r>
                      <a:r>
                        <a:rPr lang="zh-CN" altLang="en-US" dirty="0"/>
                        <a:t>个区）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每个机柜机箱数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计划生产</a:t>
                      </a:r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板（约</a:t>
                      </a:r>
                      <a:r>
                        <a:rPr lang="en-US" altLang="zh-CN" dirty="0"/>
                        <a:t>15%</a:t>
                      </a:r>
                      <a:r>
                        <a:rPr lang="zh-CN" altLang="en-US" dirty="0"/>
                        <a:t>冗余）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93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之前</a:t>
                      </a:r>
                      <a:r>
                        <a:rPr lang="en-US" altLang="zh-CN" dirty="0"/>
                        <a:t>6</a:t>
                      </a:r>
                      <a:r>
                        <a:rPr lang="zh-CN" altLang="en-US" dirty="0"/>
                        <a:t>层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堆叠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r>
                        <a:rPr lang="en-US" altLang="zh-CN" dirty="0"/>
                        <a:t>x12=72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09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最新</a:t>
                      </a:r>
                      <a:r>
                        <a:rPr lang="en-US" altLang="zh-CN" dirty="0"/>
                        <a:t>5</a:t>
                      </a:r>
                      <a:r>
                        <a:rPr lang="zh-CN" altLang="en-US" dirty="0"/>
                        <a:t>层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堆叠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r>
                        <a:rPr lang="en-US" altLang="zh-CN" dirty="0"/>
                        <a:t>x12=60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188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2491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F98D1-66F6-422B-86D3-290B62DF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计划要花的预算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3FCEE1B-8BF0-4321-B5B1-5E5D697E8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932469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982686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120659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94716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66340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供应商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报价（元）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76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线缆、机柜、机箱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安德远通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223661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469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电子学电源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湖南源光科技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03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PCB</a:t>
                      </a:r>
                      <a:r>
                        <a:rPr lang="zh-CN" altLang="en-US" dirty="0"/>
                        <a:t>、焊接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苏州思普等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722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元器件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186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总价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724341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38356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467815D-C3E5-451B-B683-32EF10D2F92D}"/>
              </a:ext>
            </a:extLst>
          </p:cNvPr>
          <p:cNvSpPr txBox="1"/>
          <p:nvPr/>
        </p:nvSpPr>
        <p:spPr>
          <a:xfrm>
            <a:off x="1028700" y="4299438"/>
            <a:ext cx="8027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用的</a:t>
            </a:r>
            <a:r>
              <a:rPr lang="en-US" altLang="zh-CN" dirty="0"/>
              <a:t>DAC</a:t>
            </a:r>
            <a:r>
              <a:rPr lang="zh-CN" altLang="en-US" dirty="0"/>
              <a:t>芯片最近涨价到</a:t>
            </a:r>
            <a:r>
              <a:rPr lang="en-US" altLang="zh-CN" dirty="0"/>
              <a:t>500</a:t>
            </a:r>
            <a:r>
              <a:rPr lang="zh-CN" altLang="en-US" dirty="0"/>
              <a:t>元</a:t>
            </a:r>
            <a:r>
              <a:rPr lang="en-US" altLang="zh-CN" dirty="0"/>
              <a:t>/</a:t>
            </a:r>
            <a:r>
              <a:rPr lang="zh-CN" altLang="en-US" dirty="0"/>
              <a:t>片，需要</a:t>
            </a:r>
            <a:r>
              <a:rPr lang="en-US" altLang="zh-CN" dirty="0"/>
              <a:t>200</a:t>
            </a:r>
            <a:r>
              <a:rPr lang="zh-CN" altLang="en-US" dirty="0"/>
              <a:t>片，正在寻找更多渠道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0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414FF-4B1A-429C-94F7-D04F938E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电子学板卡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F38CFC3-C2BD-4027-9075-A19E6EE64C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6556718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244617096"/>
                    </a:ext>
                  </a:extLst>
                </a:gridCol>
                <a:gridCol w="958362">
                  <a:extLst>
                    <a:ext uri="{9D8B030D-6E8A-4147-A177-3AD203B41FA5}">
                      <a16:colId xmlns:a16="http://schemas.microsoft.com/office/drawing/2014/main" val="1500916453"/>
                    </a:ext>
                  </a:extLst>
                </a:gridCol>
                <a:gridCol w="3560884">
                  <a:extLst>
                    <a:ext uri="{9D8B030D-6E8A-4147-A177-3AD203B41FA5}">
                      <a16:colId xmlns:a16="http://schemas.microsoft.com/office/drawing/2014/main" val="3404036676"/>
                    </a:ext>
                  </a:extLst>
                </a:gridCol>
                <a:gridCol w="2083777">
                  <a:extLst>
                    <a:ext uri="{9D8B030D-6E8A-4147-A177-3AD203B41FA5}">
                      <a16:colId xmlns:a16="http://schemas.microsoft.com/office/drawing/2014/main" val="2417673628"/>
                    </a:ext>
                  </a:extLst>
                </a:gridCol>
                <a:gridCol w="2807677">
                  <a:extLst>
                    <a:ext uri="{9D8B030D-6E8A-4147-A177-3AD203B41FA5}">
                      <a16:colId xmlns:a16="http://schemas.microsoft.com/office/drawing/2014/main" val="2704707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进展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作用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丝印名字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4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已经制版，待焊接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连接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，作为</a:t>
                      </a:r>
                      <a:r>
                        <a:rPr lang="en-US" altLang="zh-CN" dirty="0"/>
                        <a:t>TDC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JUNORPCFrontv3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84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中间板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待生产，个别芯片还在补充购买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一级汇总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JUNORPC6Cv3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316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末端板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待生产，料全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二级汇总，</a:t>
                      </a:r>
                      <a:r>
                        <a:rPr lang="en-US" altLang="zh-CN" dirty="0"/>
                        <a:t>WR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JUNO RPC CDC WR v1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106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6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8FE38-B972-4D36-8B04-2788D3B3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电缆规格（</a:t>
            </a:r>
            <a:r>
              <a:rPr lang="en-US" altLang="zh-CN" dirty="0"/>
              <a:t>16x12x5=960</a:t>
            </a:r>
            <a:r>
              <a:rPr lang="zh-CN" altLang="en-US" dirty="0"/>
              <a:t>）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CE4D9F7-D0E8-4552-96A6-A244CA0884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743712"/>
              </p:ext>
            </p:extLst>
          </p:nvPr>
        </p:nvGraphicFramePr>
        <p:xfrm>
          <a:off x="838200" y="1825625"/>
          <a:ext cx="10890739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48">
                  <a:extLst>
                    <a:ext uri="{9D8B030D-6E8A-4147-A177-3AD203B41FA5}">
                      <a16:colId xmlns:a16="http://schemas.microsoft.com/office/drawing/2014/main" val="2506374334"/>
                    </a:ext>
                  </a:extLst>
                </a:gridCol>
                <a:gridCol w="667629">
                  <a:extLst>
                    <a:ext uri="{9D8B030D-6E8A-4147-A177-3AD203B41FA5}">
                      <a16:colId xmlns:a16="http://schemas.microsoft.com/office/drawing/2014/main" val="155211461"/>
                    </a:ext>
                  </a:extLst>
                </a:gridCol>
                <a:gridCol w="5090746">
                  <a:extLst>
                    <a:ext uri="{9D8B030D-6E8A-4147-A177-3AD203B41FA5}">
                      <a16:colId xmlns:a16="http://schemas.microsoft.com/office/drawing/2014/main" val="117080509"/>
                    </a:ext>
                  </a:extLst>
                </a:gridCol>
                <a:gridCol w="776068">
                  <a:extLst>
                    <a:ext uri="{9D8B030D-6E8A-4147-A177-3AD203B41FA5}">
                      <a16:colId xmlns:a16="http://schemas.microsoft.com/office/drawing/2014/main" val="4192790215"/>
                    </a:ext>
                  </a:extLst>
                </a:gridCol>
                <a:gridCol w="2178148">
                  <a:extLst>
                    <a:ext uri="{9D8B030D-6E8A-4147-A177-3AD203B41FA5}">
                      <a16:colId xmlns:a16="http://schemas.microsoft.com/office/drawing/2014/main" val="1749805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单位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作用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323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带全屏蔽的</a:t>
                      </a:r>
                      <a:r>
                        <a:rPr lang="en-US" dirty="0"/>
                        <a:t>6</a:t>
                      </a:r>
                      <a:r>
                        <a:rPr lang="zh-CN" altLang="en-US" dirty="0"/>
                        <a:t>类线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altLang="zh-CN" dirty="0"/>
                        <a:t>m</a:t>
                      </a:r>
                      <a:r>
                        <a:rPr lang="zh-CN" altLang="en-US" dirty="0"/>
                        <a:t>长，要求</a:t>
                      </a:r>
                      <a:r>
                        <a:rPr lang="en-US" altLang="zh-CN" dirty="0"/>
                        <a:t>4</a:t>
                      </a:r>
                      <a:r>
                        <a:rPr lang="zh-CN" altLang="en-US" dirty="0"/>
                        <a:t>对双绞线有个共同的屏蔽层，直连线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连接中间板和末端板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108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FPC</a:t>
                      </a:r>
                      <a:r>
                        <a:rPr lang="zh-CN" altLang="en-US" dirty="0"/>
                        <a:t>线缆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  <a:r>
                        <a:rPr lang="zh-CN" altLang="en-US" dirty="0"/>
                        <a:t>针，双面屏蔽，反向，</a:t>
                      </a:r>
                      <a:r>
                        <a:rPr lang="en-US" altLang="zh-CN" dirty="0"/>
                        <a:t>30 cm</a:t>
                      </a:r>
                      <a:r>
                        <a:rPr lang="zh-CN" altLang="en-US" dirty="0"/>
                        <a:t>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连接</a:t>
                      </a:r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和中间板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102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电源线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2m</a:t>
                      </a:r>
                      <a:r>
                        <a:rPr lang="zh-CN" altLang="en-US" dirty="0"/>
                        <a:t>长，单端带绿色电源端子，每对双绞，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带屏蔽层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根一组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为中间板和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供电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33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同轴线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两端</a:t>
                      </a:r>
                      <a:r>
                        <a:rPr lang="en-US" altLang="zh-CN" dirty="0"/>
                        <a:t>SMA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2m</a:t>
                      </a:r>
                      <a:r>
                        <a:rPr lang="zh-CN" altLang="en-US" dirty="0"/>
                        <a:t>长，特氟龙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电子学通道刻度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42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同轴线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两端</a:t>
                      </a:r>
                      <a:r>
                        <a:rPr lang="en-US" altLang="zh-CN" dirty="0"/>
                        <a:t>SMA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10cm</a:t>
                      </a:r>
                      <a:r>
                        <a:rPr lang="zh-CN" altLang="en-US" dirty="0"/>
                        <a:t>长，特氟龙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电子学通道刻度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3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模块电源转接头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三芯线，</a:t>
                      </a:r>
                      <a:r>
                        <a:rPr lang="en-US" altLang="zh-CN" dirty="0"/>
                        <a:t>8 cm</a:t>
                      </a:r>
                      <a:r>
                        <a:rPr lang="zh-CN" altLang="en-US" dirty="0"/>
                        <a:t>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个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为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前端电子学提供电压和阈值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13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818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A5136-24A9-4B0C-AB6A-3364BDB7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22B83B-2CC5-4888-8BAB-F266AA699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B7296D-F2E9-4649-BE39-B119BB9E6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160" y="133998"/>
            <a:ext cx="9602540" cy="64493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7B090AC-5A45-4F9D-AA8A-005F0D74ECC5}"/>
              </a:ext>
            </a:extLst>
          </p:cNvPr>
          <p:cNvSpPr txBox="1"/>
          <p:nvPr/>
        </p:nvSpPr>
        <p:spPr>
          <a:xfrm>
            <a:off x="5284177" y="6374423"/>
            <a:ext cx="259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安德远通报价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69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86C26-6295-48F8-9B09-444448775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EAB2898-3CC0-49D1-A171-843A9DB50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028" y="1424782"/>
            <a:ext cx="7525943" cy="4884065"/>
          </a:xfrm>
        </p:spPr>
      </p:pic>
    </p:spTree>
    <p:extLst>
      <p:ext uri="{BB962C8B-B14F-4D97-AF65-F5344CB8AC3E}">
        <p14:creationId xmlns:p14="http://schemas.microsoft.com/office/powerpoint/2010/main" val="3327276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3E68A-2302-49D1-9097-6E2AEE20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23A95C-271D-4DFE-810D-84F4763FA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E4FFB5-47AC-4993-8F03-EBD318A9F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912" y="691340"/>
            <a:ext cx="7182852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41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327</Words>
  <Application>Microsoft Office PowerPoint</Application>
  <PresentationFormat>宽屏</PresentationFormat>
  <Paragraphs>100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Arial</vt:lpstr>
      <vt:lpstr>Calibri</vt:lpstr>
      <vt:lpstr>Calibri Light</vt:lpstr>
      <vt:lpstr>Office 主题​​</vt:lpstr>
      <vt:lpstr>RPC电子学预算</vt:lpstr>
      <vt:lpstr>背景</vt:lpstr>
      <vt:lpstr>计划要花的预算</vt:lpstr>
      <vt:lpstr>电子学板卡</vt:lpstr>
      <vt:lpstr>电缆规格（16x12x5=960）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RPC电子学预算</dc:title>
  <dc:creator>DELL</dc:creator>
  <cp:lastModifiedBy>DELL</cp:lastModifiedBy>
  <cp:revision>47</cp:revision>
  <dcterms:created xsi:type="dcterms:W3CDTF">2025-12-01T01:31:05Z</dcterms:created>
  <dcterms:modified xsi:type="dcterms:W3CDTF">2025-12-01T09:20:11Z</dcterms:modified>
</cp:coreProperties>
</file>